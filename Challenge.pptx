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Roboto Medium"/>
      <p:regular r:id="rId21"/>
      <p:bold r:id="rId22"/>
      <p:italic r:id="rId23"/>
      <p:boldItalic r:id="rId24"/>
    </p:embeddedFont>
    <p:embeddedFont>
      <p:font typeface="Merriweather Medium"/>
      <p:regular r:id="rId25"/>
      <p:bold r:id="rId26"/>
      <p:italic r:id="rId27"/>
      <p:boldItalic r:id="rId28"/>
    </p:embeddedFont>
    <p:embeddedFont>
      <p:font typeface="Roboto SemiBold"/>
      <p:regular r:id="rId29"/>
      <p:bold r:id="rId30"/>
      <p:italic r:id="rId31"/>
      <p:boldItalic r:id="rId32"/>
    </p:embeddedFont>
    <p:embeddedFont>
      <p:font typeface="Merriweather"/>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RobotoMedium-bold.fntdata"/><Relationship Id="rId21" Type="http://schemas.openxmlformats.org/officeDocument/2006/relationships/font" Target="fonts/RobotoMedium-regular.fntdata"/><Relationship Id="rId24" Type="http://schemas.openxmlformats.org/officeDocument/2006/relationships/font" Target="fonts/RobotoMedium-boldItalic.fntdata"/><Relationship Id="rId23" Type="http://schemas.openxmlformats.org/officeDocument/2006/relationships/font" Target="fonts/Roboto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Medium-bold.fntdata"/><Relationship Id="rId25" Type="http://schemas.openxmlformats.org/officeDocument/2006/relationships/font" Target="fonts/MerriweatherMedium-regular.fntdata"/><Relationship Id="rId28" Type="http://schemas.openxmlformats.org/officeDocument/2006/relationships/font" Target="fonts/MerriweatherMedium-boldItalic.fntdata"/><Relationship Id="rId27" Type="http://schemas.openxmlformats.org/officeDocument/2006/relationships/font" Target="fonts/MerriweatherMedium-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SemiBold-italic.fntdata"/><Relationship Id="rId30" Type="http://schemas.openxmlformats.org/officeDocument/2006/relationships/font" Target="fonts/RobotoSemiBold-bold.fntdata"/><Relationship Id="rId11" Type="http://schemas.openxmlformats.org/officeDocument/2006/relationships/slide" Target="slides/slide6.xml"/><Relationship Id="rId33" Type="http://schemas.openxmlformats.org/officeDocument/2006/relationships/font" Target="fonts/Merriweather-regular.fntdata"/><Relationship Id="rId10" Type="http://schemas.openxmlformats.org/officeDocument/2006/relationships/slide" Target="slides/slide5.xml"/><Relationship Id="rId32" Type="http://schemas.openxmlformats.org/officeDocument/2006/relationships/font" Target="fonts/RobotoSemiBold-boldItalic.fntdata"/><Relationship Id="rId13" Type="http://schemas.openxmlformats.org/officeDocument/2006/relationships/slide" Target="slides/slide8.xml"/><Relationship Id="rId35" Type="http://schemas.openxmlformats.org/officeDocument/2006/relationships/font" Target="fonts/Merriweather-italic.fntdata"/><Relationship Id="rId12" Type="http://schemas.openxmlformats.org/officeDocument/2006/relationships/slide" Target="slides/slide7.xml"/><Relationship Id="rId34" Type="http://schemas.openxmlformats.org/officeDocument/2006/relationships/font" Target="fonts/Merriweather-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Merriweather-boldItalic.fntdata"/><Relationship Id="rId17" Type="http://schemas.openxmlformats.org/officeDocument/2006/relationships/font" Target="fonts/Roboto-regular.fntdata"/><Relationship Id="rId16" Type="http://schemas.openxmlformats.org/officeDocument/2006/relationships/slide" Target="slides/slide11.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9c1fcf6c00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9c1fcf6c00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9c1fcf6c00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9c1fcf6c00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c1fcf6c00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9c1fcf6c00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c1fcf6c00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c1fcf6c00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c1fcf6c00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c1fcf6c00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c1fcf6c00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c1fcf6c00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c1fcf6c00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9c1fcf6c00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c1fcf6c00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c1fcf6c00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c1fcf6c00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c1fcf6c00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c1fcf6c00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c1fcf6c00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idx="4294967295" type="body"/>
          </p:nvPr>
        </p:nvSpPr>
        <p:spPr>
          <a:xfrm>
            <a:off x="403525" y="597650"/>
            <a:ext cx="5034300" cy="2206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88"/>
              <a:buNone/>
            </a:pPr>
            <a:r>
              <a:rPr lang="pt-BR" sz="3825">
                <a:solidFill>
                  <a:schemeClr val="dk1"/>
                </a:solidFill>
                <a:latin typeface="Merriweather Medium"/>
                <a:ea typeface="Merriweather Medium"/>
                <a:cs typeface="Merriweather Medium"/>
                <a:sym typeface="Merriweather Medium"/>
              </a:rPr>
              <a:t>Operations Intelligence Analyst Challenge</a:t>
            </a:r>
            <a:endParaRPr sz="3825">
              <a:solidFill>
                <a:schemeClr val="dk1"/>
              </a:solidFill>
              <a:latin typeface="Merriweather Medium"/>
              <a:ea typeface="Merriweather Medium"/>
              <a:cs typeface="Merriweather Medium"/>
              <a:sym typeface="Merriweath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2600">
                <a:latin typeface="Merriweather Medium"/>
                <a:ea typeface="Merriweather Medium"/>
                <a:cs typeface="Merriweather Medium"/>
                <a:sym typeface="Merriweather Medium"/>
              </a:rPr>
              <a:t>Context and Methodology</a:t>
            </a:r>
            <a:endParaRPr sz="2600">
              <a:latin typeface="Merriweather Medium"/>
              <a:ea typeface="Merriweather Medium"/>
              <a:cs typeface="Merriweather Medium"/>
              <a:sym typeface="Merriweather Medium"/>
            </a:endParaRPr>
          </a:p>
        </p:txBody>
      </p:sp>
      <p:sp>
        <p:nvSpPr>
          <p:cNvPr id="70" name="Google Shape;70;p14"/>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pt-BR">
                <a:solidFill>
                  <a:srgbClr val="434343"/>
                </a:solidFill>
                <a:latin typeface="Roboto SemiBold"/>
                <a:ea typeface="Roboto SemiBold"/>
                <a:cs typeface="Roboto SemiBold"/>
                <a:sym typeface="Roboto SemiBold"/>
              </a:rPr>
              <a:t>The dataset covers transactions processed by CloudWalk’s payment system between January and March 2025, containing detailed transactional information such as transaction date, entity, product, payment method, installment type, and transaction value. </a:t>
            </a:r>
            <a:endParaRPr>
              <a:solidFill>
                <a:srgbClr val="434343"/>
              </a:solidFill>
              <a:latin typeface="Roboto SemiBold"/>
              <a:ea typeface="Roboto SemiBold"/>
              <a:cs typeface="Roboto SemiBold"/>
              <a:sym typeface="Roboto SemiBold"/>
            </a:endParaRPr>
          </a:p>
          <a:p>
            <a:pPr indent="0" lvl="0" marL="0" rtl="0" algn="just">
              <a:spcBef>
                <a:spcPts val="1200"/>
              </a:spcBef>
              <a:spcAft>
                <a:spcPts val="1200"/>
              </a:spcAft>
              <a:buNone/>
            </a:pPr>
            <a:r>
              <a:rPr lang="pt-BR">
                <a:solidFill>
                  <a:srgbClr val="434343"/>
                </a:solidFill>
                <a:latin typeface="Roboto SemiBold"/>
                <a:ea typeface="Roboto SemiBold"/>
                <a:cs typeface="Roboto SemiBold"/>
                <a:sym typeface="Roboto SemiBold"/>
              </a:rPr>
              <a:t>The goal of this analysis was to extract insights on payment performance and supporting operational decision-making.</a:t>
            </a:r>
            <a:endParaRPr>
              <a:solidFill>
                <a:srgbClr val="434343"/>
              </a:solidFill>
              <a:latin typeface="Roboto SemiBold"/>
              <a:ea typeface="Roboto SemiBold"/>
              <a:cs typeface="Roboto SemiBold"/>
              <a:sym typeface="Roboto SemiBold"/>
            </a:endParaRPr>
          </a:p>
        </p:txBody>
      </p:sp>
      <p:sp>
        <p:nvSpPr>
          <p:cNvPr id="71" name="Google Shape;71;p14"/>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pt-BR">
                <a:solidFill>
                  <a:srgbClr val="434343"/>
                </a:solidFill>
                <a:latin typeface="Roboto SemiBold"/>
                <a:ea typeface="Roboto SemiBold"/>
                <a:cs typeface="Roboto SemiBold"/>
                <a:sym typeface="Roboto SemiBold"/>
              </a:rPr>
              <a:t>For the analysis, the tools used were:</a:t>
            </a:r>
            <a:endParaRPr>
              <a:solidFill>
                <a:srgbClr val="434343"/>
              </a:solidFill>
              <a:latin typeface="Roboto SemiBold"/>
              <a:ea typeface="Roboto SemiBold"/>
              <a:cs typeface="Roboto SemiBold"/>
              <a:sym typeface="Roboto SemiBold"/>
            </a:endParaRPr>
          </a:p>
          <a:p>
            <a:pPr indent="-311150" lvl="0" marL="457200" rtl="0" algn="just">
              <a:spcBef>
                <a:spcPts val="1200"/>
              </a:spcBef>
              <a:spcAft>
                <a:spcPts val="0"/>
              </a:spcAft>
              <a:buClr>
                <a:srgbClr val="434343"/>
              </a:buClr>
              <a:buSzPts val="1300"/>
              <a:buFont typeface="Roboto SemiBold"/>
              <a:buChar char="●"/>
            </a:pPr>
            <a:r>
              <a:rPr lang="pt-BR">
                <a:solidFill>
                  <a:srgbClr val="434343"/>
                </a:solidFill>
                <a:latin typeface="Roboto SemiBold"/>
                <a:ea typeface="Roboto SemiBold"/>
                <a:cs typeface="Roboto SemiBold"/>
                <a:sym typeface="Roboto SemiBold"/>
              </a:rPr>
              <a:t>Google Sheets for initial data cleaning and preparation;</a:t>
            </a:r>
            <a:endParaRPr>
              <a:solidFill>
                <a:srgbClr val="434343"/>
              </a:solidFill>
              <a:latin typeface="Roboto SemiBold"/>
              <a:ea typeface="Roboto SemiBold"/>
              <a:cs typeface="Roboto SemiBold"/>
              <a:sym typeface="Roboto SemiBold"/>
            </a:endParaRPr>
          </a:p>
          <a:p>
            <a:pPr indent="-311150" lvl="0" marL="457200" rtl="0" algn="just">
              <a:spcBef>
                <a:spcPts val="0"/>
              </a:spcBef>
              <a:spcAft>
                <a:spcPts val="0"/>
              </a:spcAft>
              <a:buClr>
                <a:srgbClr val="434343"/>
              </a:buClr>
              <a:buSzPts val="1300"/>
              <a:buFont typeface="Roboto SemiBold"/>
              <a:buChar char="●"/>
            </a:pPr>
            <a:r>
              <a:rPr lang="pt-BR">
                <a:solidFill>
                  <a:srgbClr val="434343"/>
                </a:solidFill>
                <a:latin typeface="Roboto SemiBold"/>
                <a:ea typeface="Roboto SemiBold"/>
                <a:cs typeface="Roboto SemiBold"/>
                <a:sym typeface="Roboto SemiBold"/>
              </a:rPr>
              <a:t>Looker Studio for creating KPIs, visualizations, and extracting insights to support business recommendations.</a:t>
            </a:r>
            <a:endParaRPr>
              <a:solidFill>
                <a:srgbClr val="434343"/>
              </a:solidFill>
              <a:latin typeface="Roboto SemiBold"/>
              <a:ea typeface="Roboto SemiBold"/>
              <a:cs typeface="Roboto SemiBold"/>
              <a:sym typeface="Roboto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22150" y="1546963"/>
            <a:ext cx="3704400" cy="2049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pt-BR" sz="3200">
                <a:latin typeface="Merriweather Medium"/>
                <a:ea typeface="Merriweather Medium"/>
                <a:cs typeface="Merriweather Medium"/>
                <a:sym typeface="Merriweather Medium"/>
              </a:rPr>
              <a:t>KPIs and Metrics</a:t>
            </a:r>
            <a:endParaRPr sz="3200">
              <a:latin typeface="Merriweather Medium"/>
              <a:ea typeface="Merriweather Medium"/>
              <a:cs typeface="Merriweather Medium"/>
              <a:sym typeface="Merriweather Medium"/>
            </a:endParaRPr>
          </a:p>
        </p:txBody>
      </p:sp>
      <p:pic>
        <p:nvPicPr>
          <p:cNvPr id="77" name="Google Shape;77;p15"/>
          <p:cNvPicPr preferRelativeResize="0"/>
          <p:nvPr/>
        </p:nvPicPr>
        <p:blipFill>
          <a:blip r:embed="rId3">
            <a:alphaModFix/>
          </a:blip>
          <a:stretch>
            <a:fillRect/>
          </a:stretch>
        </p:blipFill>
        <p:spPr>
          <a:xfrm>
            <a:off x="5613050" y="152400"/>
            <a:ext cx="1956070"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p:nvPr/>
        </p:nvSpPr>
        <p:spPr>
          <a:xfrm>
            <a:off x="311700" y="182275"/>
            <a:ext cx="8475900" cy="696600"/>
          </a:xfrm>
          <a:prstGeom prst="rect">
            <a:avLst/>
          </a:prstGeom>
          <a:solidFill>
            <a:srgbClr val="11111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3" name="Google Shape;83;p16"/>
          <p:cNvSpPr txBox="1"/>
          <p:nvPr>
            <p:ph idx="4294967295" type="title"/>
          </p:nvPr>
        </p:nvSpPr>
        <p:spPr>
          <a:xfrm>
            <a:off x="311700" y="255246"/>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2600">
                <a:solidFill>
                  <a:srgbClr val="EEF0FF"/>
                </a:solidFill>
                <a:latin typeface="Merriweather Medium"/>
                <a:ea typeface="Merriweather Medium"/>
                <a:cs typeface="Merriweather Medium"/>
                <a:sym typeface="Merriweather Medium"/>
              </a:rPr>
              <a:t>Total Payment Volume (TPV)</a:t>
            </a:r>
            <a:endParaRPr sz="2600">
              <a:solidFill>
                <a:srgbClr val="EEF0FF"/>
              </a:solidFill>
              <a:latin typeface="Merriweather Medium"/>
              <a:ea typeface="Merriweather Medium"/>
              <a:cs typeface="Merriweather Medium"/>
              <a:sym typeface="Merriweather Medium"/>
            </a:endParaRPr>
          </a:p>
        </p:txBody>
      </p:sp>
      <p:pic>
        <p:nvPicPr>
          <p:cNvPr id="84" name="Google Shape;84;p16"/>
          <p:cNvPicPr preferRelativeResize="0"/>
          <p:nvPr/>
        </p:nvPicPr>
        <p:blipFill>
          <a:blip r:embed="rId3">
            <a:alphaModFix/>
          </a:blip>
          <a:stretch>
            <a:fillRect/>
          </a:stretch>
        </p:blipFill>
        <p:spPr>
          <a:xfrm>
            <a:off x="183775" y="4454926"/>
            <a:ext cx="1245000" cy="356958"/>
          </a:xfrm>
          <a:prstGeom prst="rect">
            <a:avLst/>
          </a:prstGeom>
          <a:noFill/>
          <a:ln>
            <a:noFill/>
          </a:ln>
        </p:spPr>
      </p:pic>
      <p:sp>
        <p:nvSpPr>
          <p:cNvPr id="85" name="Google Shape;85;p16"/>
          <p:cNvSpPr txBox="1"/>
          <p:nvPr>
            <p:ph idx="4294967295" type="body"/>
          </p:nvPr>
        </p:nvSpPr>
        <p:spPr>
          <a:xfrm>
            <a:off x="311700" y="947614"/>
            <a:ext cx="8520600" cy="11241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SzPts val="605"/>
              <a:buNone/>
            </a:pPr>
            <a:r>
              <a:rPr lang="pt-BR" sz="800">
                <a:latin typeface="Roboto SemiBold"/>
                <a:ea typeface="Roboto SemiBold"/>
                <a:cs typeface="Roboto SemiBold"/>
                <a:sym typeface="Roboto SemiBold"/>
              </a:rPr>
              <a:t>The TPV is highly concentrated in PJ, representing 69.3% of total TPV, approximately 13.3 billion. Meanwhile, PF account for 30.7%, or about 5.9 billion and indicates that CloudWalk’s transaction base is mainly driven by business clients.</a:t>
            </a:r>
            <a:endParaRPr sz="800">
              <a:latin typeface="Roboto SemiBold"/>
              <a:ea typeface="Roboto SemiBold"/>
              <a:cs typeface="Roboto SemiBold"/>
              <a:sym typeface="Roboto SemiBold"/>
            </a:endParaRPr>
          </a:p>
          <a:p>
            <a:pPr indent="0" lvl="0" marL="0" rtl="0" algn="just">
              <a:lnSpc>
                <a:spcPct val="105000"/>
              </a:lnSpc>
              <a:spcBef>
                <a:spcPts val="1200"/>
              </a:spcBef>
              <a:spcAft>
                <a:spcPts val="0"/>
              </a:spcAft>
              <a:buSzPts val="605"/>
              <a:buNone/>
            </a:pPr>
            <a:r>
              <a:rPr lang="pt-BR" sz="800">
                <a:latin typeface="Roboto SemiBold"/>
                <a:ea typeface="Roboto SemiBold"/>
                <a:cs typeface="Roboto SemiBold"/>
                <a:sym typeface="Roboto SemiBold"/>
              </a:rPr>
              <a:t>Credit is the preferred and most profitable payment channel across all entities. Optimizing credit transaction efficiency and costs could result in a great and positive financial impact.</a:t>
            </a:r>
            <a:endParaRPr sz="800">
              <a:latin typeface="Roboto SemiBold"/>
              <a:ea typeface="Roboto SemiBold"/>
              <a:cs typeface="Roboto SemiBold"/>
              <a:sym typeface="Roboto SemiBold"/>
            </a:endParaRPr>
          </a:p>
          <a:p>
            <a:pPr indent="0" lvl="0" marL="0" rtl="0" algn="just">
              <a:lnSpc>
                <a:spcPct val="105000"/>
              </a:lnSpc>
              <a:spcBef>
                <a:spcPts val="1200"/>
              </a:spcBef>
              <a:spcAft>
                <a:spcPts val="1200"/>
              </a:spcAft>
              <a:buSzPts val="605"/>
              <a:buNone/>
            </a:pPr>
            <a:r>
              <a:rPr lang="pt-BR" sz="800">
                <a:latin typeface="Roboto SemiBold"/>
                <a:ea typeface="Roboto SemiBold"/>
                <a:cs typeface="Roboto SemiBold"/>
                <a:sym typeface="Roboto SemiBold"/>
              </a:rPr>
              <a:t>The product with the highest TPV is POS reaching 8.14 bi, </a:t>
            </a:r>
            <a:r>
              <a:rPr lang="pt-BR" sz="800">
                <a:latin typeface="Roboto SemiBold"/>
                <a:ea typeface="Roboto SemiBold"/>
                <a:cs typeface="Roboto SemiBold"/>
                <a:sym typeface="Roboto SemiBold"/>
              </a:rPr>
              <a:t>predominantly</a:t>
            </a:r>
            <a:r>
              <a:rPr lang="pt-BR" sz="800">
                <a:latin typeface="Roboto SemiBold"/>
                <a:ea typeface="Roboto SemiBold"/>
                <a:cs typeface="Roboto SemiBold"/>
                <a:sym typeface="Roboto SemiBold"/>
              </a:rPr>
              <a:t> from PJs clients and for PF clients, the leading product is TAP, totaling 4.59 billion. Other </a:t>
            </a:r>
            <a:r>
              <a:rPr lang="pt-BR" sz="800">
                <a:latin typeface="Roboto SemiBold"/>
                <a:ea typeface="Roboto SemiBold"/>
                <a:cs typeface="Roboto SemiBold"/>
                <a:sym typeface="Roboto SemiBold"/>
              </a:rPr>
              <a:t>products</a:t>
            </a:r>
            <a:r>
              <a:rPr lang="pt-BR" sz="800">
                <a:latin typeface="Roboto SemiBold"/>
                <a:ea typeface="Roboto SemiBold"/>
                <a:cs typeface="Roboto SemiBold"/>
                <a:sym typeface="Roboto SemiBold"/>
              </a:rPr>
              <a:t> like PIX (2.44 bi) and LINK (2.40 bi) also have a significant amount. Therefore, the company have a </a:t>
            </a:r>
            <a:r>
              <a:rPr lang="pt-BR" sz="800">
                <a:latin typeface="Roboto SemiBold"/>
                <a:ea typeface="Roboto SemiBold"/>
                <a:cs typeface="Roboto SemiBold"/>
                <a:sym typeface="Roboto SemiBold"/>
              </a:rPr>
              <a:t>diversity portfolio regarding payment methods</a:t>
            </a:r>
            <a:r>
              <a:rPr lang="pt-BR" sz="800">
                <a:latin typeface="Roboto SemiBold"/>
                <a:ea typeface="Roboto SemiBold"/>
                <a:cs typeface="Roboto SemiBold"/>
                <a:sym typeface="Roboto SemiBold"/>
              </a:rPr>
              <a:t> even though each client has their </a:t>
            </a:r>
            <a:r>
              <a:rPr lang="pt-BR" sz="800">
                <a:latin typeface="Roboto SemiBold"/>
                <a:ea typeface="Roboto SemiBold"/>
                <a:cs typeface="Roboto SemiBold"/>
                <a:sym typeface="Roboto SemiBold"/>
              </a:rPr>
              <a:t>preferred</a:t>
            </a:r>
            <a:r>
              <a:rPr lang="pt-BR" sz="800">
                <a:latin typeface="Roboto SemiBold"/>
                <a:ea typeface="Roboto SemiBold"/>
                <a:cs typeface="Roboto SemiBold"/>
                <a:sym typeface="Roboto SemiBold"/>
              </a:rPr>
              <a:t> PIX and Link show </a:t>
            </a:r>
            <a:r>
              <a:rPr lang="pt-BR" sz="800">
                <a:latin typeface="Roboto SemiBold"/>
                <a:ea typeface="Roboto SemiBold"/>
                <a:cs typeface="Roboto SemiBold"/>
                <a:sym typeface="Roboto SemiBold"/>
              </a:rPr>
              <a:t>potential for future growth</a:t>
            </a:r>
            <a:r>
              <a:rPr lang="pt-BR" sz="800">
                <a:latin typeface="Roboto SemiBold"/>
                <a:ea typeface="Roboto SemiBold"/>
                <a:cs typeface="Roboto SemiBold"/>
                <a:sym typeface="Roboto SemiBold"/>
              </a:rPr>
              <a:t> and </a:t>
            </a:r>
            <a:r>
              <a:rPr lang="pt-BR" sz="800">
                <a:latin typeface="Roboto SemiBold"/>
                <a:ea typeface="Roboto SemiBold"/>
                <a:cs typeface="Roboto SemiBold"/>
                <a:sym typeface="Roboto SemiBold"/>
              </a:rPr>
              <a:t>should continue to be</a:t>
            </a:r>
            <a:r>
              <a:rPr lang="pt-BR" sz="800">
                <a:latin typeface="Roboto SemiBold"/>
                <a:ea typeface="Roboto SemiBold"/>
                <a:cs typeface="Roboto SemiBold"/>
                <a:sym typeface="Roboto SemiBold"/>
              </a:rPr>
              <a:t> monitored.</a:t>
            </a:r>
            <a:endParaRPr sz="800">
              <a:latin typeface="Roboto SemiBold"/>
              <a:ea typeface="Roboto SemiBold"/>
              <a:cs typeface="Roboto SemiBold"/>
              <a:sym typeface="Roboto SemiBold"/>
            </a:endParaRPr>
          </a:p>
        </p:txBody>
      </p:sp>
      <p:pic>
        <p:nvPicPr>
          <p:cNvPr id="86" name="Google Shape;86;p16"/>
          <p:cNvPicPr preferRelativeResize="0"/>
          <p:nvPr/>
        </p:nvPicPr>
        <p:blipFill>
          <a:blip r:embed="rId4">
            <a:alphaModFix/>
          </a:blip>
          <a:stretch>
            <a:fillRect/>
          </a:stretch>
        </p:blipFill>
        <p:spPr>
          <a:xfrm>
            <a:off x="267748" y="2310091"/>
            <a:ext cx="1897976" cy="1866325"/>
          </a:xfrm>
          <a:prstGeom prst="rect">
            <a:avLst/>
          </a:prstGeom>
          <a:noFill/>
          <a:ln>
            <a:noFill/>
          </a:ln>
        </p:spPr>
      </p:pic>
      <p:pic>
        <p:nvPicPr>
          <p:cNvPr id="87" name="Google Shape;87;p16"/>
          <p:cNvPicPr preferRelativeResize="0"/>
          <p:nvPr/>
        </p:nvPicPr>
        <p:blipFill>
          <a:blip r:embed="rId5">
            <a:alphaModFix/>
          </a:blip>
          <a:stretch>
            <a:fillRect/>
          </a:stretch>
        </p:blipFill>
        <p:spPr>
          <a:xfrm>
            <a:off x="2608871" y="2310091"/>
            <a:ext cx="2927179" cy="1866325"/>
          </a:xfrm>
          <a:prstGeom prst="rect">
            <a:avLst/>
          </a:prstGeom>
          <a:noFill/>
          <a:ln>
            <a:noFill/>
          </a:ln>
        </p:spPr>
      </p:pic>
      <p:pic>
        <p:nvPicPr>
          <p:cNvPr id="88" name="Google Shape;88;p16"/>
          <p:cNvPicPr preferRelativeResize="0"/>
          <p:nvPr/>
        </p:nvPicPr>
        <p:blipFill>
          <a:blip r:embed="rId6">
            <a:alphaModFix/>
          </a:blip>
          <a:stretch>
            <a:fillRect/>
          </a:stretch>
        </p:blipFill>
        <p:spPr>
          <a:xfrm>
            <a:off x="5933270" y="2274116"/>
            <a:ext cx="3058330" cy="1866325"/>
          </a:xfrm>
          <a:prstGeom prst="rect">
            <a:avLst/>
          </a:prstGeom>
          <a:noFill/>
          <a:ln>
            <a:noFill/>
          </a:ln>
        </p:spPr>
      </p:pic>
      <p:sp>
        <p:nvSpPr>
          <p:cNvPr id="89" name="Google Shape;89;p16"/>
          <p:cNvSpPr/>
          <p:nvPr/>
        </p:nvSpPr>
        <p:spPr>
          <a:xfrm>
            <a:off x="236550" y="2215700"/>
            <a:ext cx="1898100" cy="299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pt-BR" sz="1100">
                <a:solidFill>
                  <a:srgbClr val="0D1117"/>
                </a:solidFill>
                <a:latin typeface="Roboto Medium"/>
                <a:ea typeface="Roboto Medium"/>
                <a:cs typeface="Roboto Medium"/>
                <a:sym typeface="Roboto Medium"/>
              </a:rPr>
              <a:t>TPV by Entity</a:t>
            </a:r>
            <a:endParaRPr sz="1100">
              <a:solidFill>
                <a:srgbClr val="0D1117"/>
              </a:solidFill>
              <a:latin typeface="Roboto Medium"/>
              <a:ea typeface="Roboto Medium"/>
              <a:cs typeface="Roboto Medium"/>
              <a:sym typeface="Roboto Medium"/>
            </a:endParaRPr>
          </a:p>
        </p:txBody>
      </p:sp>
      <p:sp>
        <p:nvSpPr>
          <p:cNvPr id="90" name="Google Shape;90;p16"/>
          <p:cNvSpPr/>
          <p:nvPr/>
        </p:nvSpPr>
        <p:spPr>
          <a:xfrm>
            <a:off x="2608875" y="2215700"/>
            <a:ext cx="1245000" cy="299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t-BR" sz="1100">
                <a:solidFill>
                  <a:srgbClr val="0D1117"/>
                </a:solidFill>
                <a:latin typeface="Roboto Medium"/>
                <a:ea typeface="Roboto Medium"/>
                <a:cs typeface="Roboto Medium"/>
                <a:sym typeface="Roboto Medium"/>
              </a:rPr>
              <a:t>TPV by Product</a:t>
            </a:r>
            <a:endParaRPr sz="1100">
              <a:solidFill>
                <a:srgbClr val="0D1117"/>
              </a:solidFill>
              <a:latin typeface="Roboto Medium"/>
              <a:ea typeface="Roboto Medium"/>
              <a:cs typeface="Roboto Medium"/>
              <a:sym typeface="Roboto Medium"/>
            </a:endParaRPr>
          </a:p>
        </p:txBody>
      </p:sp>
      <p:sp>
        <p:nvSpPr>
          <p:cNvPr id="91" name="Google Shape;91;p16"/>
          <p:cNvSpPr/>
          <p:nvPr/>
        </p:nvSpPr>
        <p:spPr>
          <a:xfrm>
            <a:off x="5875625" y="2215700"/>
            <a:ext cx="1799100" cy="299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pt-BR" sz="1100">
                <a:solidFill>
                  <a:srgbClr val="0D1117"/>
                </a:solidFill>
                <a:latin typeface="Roboto Medium"/>
                <a:ea typeface="Roboto Medium"/>
                <a:cs typeface="Roboto Medium"/>
                <a:sym typeface="Roboto Medium"/>
              </a:rPr>
              <a:t>TPV by Payment Method</a:t>
            </a:r>
            <a:endParaRPr sz="1100">
              <a:solidFill>
                <a:srgbClr val="0D1117"/>
              </a:solidFill>
              <a:latin typeface="Roboto Medium"/>
              <a:ea typeface="Roboto Medium"/>
              <a:cs typeface="Roboto Medium"/>
              <a:sym typeface="Roboto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p:nvPr/>
        </p:nvSpPr>
        <p:spPr>
          <a:xfrm>
            <a:off x="311700" y="182275"/>
            <a:ext cx="8475900" cy="696600"/>
          </a:xfrm>
          <a:prstGeom prst="rect">
            <a:avLst/>
          </a:prstGeom>
          <a:solidFill>
            <a:srgbClr val="11111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97" name="Google Shape;97;p17"/>
          <p:cNvSpPr txBox="1"/>
          <p:nvPr>
            <p:ph idx="4294967295" type="title"/>
          </p:nvPr>
        </p:nvSpPr>
        <p:spPr>
          <a:xfrm>
            <a:off x="311700" y="255246"/>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2600">
                <a:solidFill>
                  <a:srgbClr val="F0F6FC"/>
                </a:solidFill>
                <a:latin typeface="Merriweather Medium"/>
                <a:ea typeface="Merriweather Medium"/>
                <a:cs typeface="Merriweather Medium"/>
                <a:sym typeface="Merriweather Medium"/>
              </a:rPr>
              <a:t>Average TPV</a:t>
            </a:r>
            <a:endParaRPr sz="2600">
              <a:solidFill>
                <a:srgbClr val="F0F6FC"/>
              </a:solidFill>
              <a:latin typeface="Merriweather Medium"/>
              <a:ea typeface="Merriweather Medium"/>
              <a:cs typeface="Merriweather Medium"/>
              <a:sym typeface="Merriweather Medium"/>
            </a:endParaRPr>
          </a:p>
        </p:txBody>
      </p:sp>
      <p:sp>
        <p:nvSpPr>
          <p:cNvPr id="98" name="Google Shape;98;p17"/>
          <p:cNvSpPr txBox="1"/>
          <p:nvPr>
            <p:ph idx="4294967295" type="body"/>
          </p:nvPr>
        </p:nvSpPr>
        <p:spPr>
          <a:xfrm>
            <a:off x="4293742" y="1118868"/>
            <a:ext cx="4260300" cy="1223400"/>
          </a:xfrm>
          <a:prstGeom prst="rect">
            <a:avLst/>
          </a:prstGeom>
        </p:spPr>
        <p:txBody>
          <a:bodyPr anchorCtr="0" anchor="t" bIns="91425" lIns="91425" spcFirstLastPara="1" rIns="91425" wrap="square" tIns="91425">
            <a:normAutofit/>
          </a:bodyPr>
          <a:lstStyle/>
          <a:p>
            <a:pPr indent="0" lvl="0" marL="0" rtl="0" algn="just">
              <a:lnSpc>
                <a:spcPct val="75000"/>
              </a:lnSpc>
              <a:spcBef>
                <a:spcPts val="0"/>
              </a:spcBef>
              <a:spcAft>
                <a:spcPts val="0"/>
              </a:spcAft>
              <a:buNone/>
            </a:pPr>
            <a:r>
              <a:t/>
            </a:r>
            <a:endParaRPr sz="900">
              <a:latin typeface="Roboto SemiBold"/>
              <a:ea typeface="Roboto SemiBold"/>
              <a:cs typeface="Roboto SemiBold"/>
              <a:sym typeface="Roboto SemiBold"/>
            </a:endParaRPr>
          </a:p>
          <a:p>
            <a:pPr indent="0" lvl="0" marL="0" rtl="0" algn="just">
              <a:lnSpc>
                <a:spcPct val="75000"/>
              </a:lnSpc>
              <a:spcBef>
                <a:spcPts val="1200"/>
              </a:spcBef>
              <a:spcAft>
                <a:spcPts val="0"/>
              </a:spcAft>
              <a:buNone/>
            </a:pPr>
            <a:r>
              <a:rPr lang="pt-BR" sz="900">
                <a:latin typeface="Roboto SemiBold"/>
                <a:ea typeface="Roboto SemiBold"/>
                <a:cs typeface="Roboto SemiBold"/>
                <a:sym typeface="Roboto SemiBold"/>
              </a:rPr>
              <a:t>Analyzing the Average TPV by Entity, PJ clients continues to outperform PF clients, with an average TPV of 327.5 thousand compared to 275.4 thousand for PF.</a:t>
            </a:r>
            <a:endParaRPr sz="900">
              <a:latin typeface="Roboto SemiBold"/>
              <a:ea typeface="Roboto SemiBold"/>
              <a:cs typeface="Roboto SemiBold"/>
              <a:sym typeface="Roboto SemiBold"/>
            </a:endParaRPr>
          </a:p>
          <a:p>
            <a:pPr indent="0" lvl="0" marL="0" rtl="0" algn="just">
              <a:lnSpc>
                <a:spcPct val="75000"/>
              </a:lnSpc>
              <a:spcBef>
                <a:spcPts val="1200"/>
              </a:spcBef>
              <a:spcAft>
                <a:spcPts val="1200"/>
              </a:spcAft>
              <a:buNone/>
            </a:pPr>
            <a:r>
              <a:rPr lang="pt-BR" sz="900">
                <a:latin typeface="Roboto SemiBold"/>
                <a:ea typeface="Roboto SemiBold"/>
                <a:cs typeface="Roboto SemiBold"/>
                <a:sym typeface="Roboto SemiBold"/>
              </a:rPr>
              <a:t>Reaffirming</a:t>
            </a:r>
            <a:r>
              <a:rPr lang="pt-BR" sz="900">
                <a:latin typeface="Roboto SemiBold"/>
                <a:ea typeface="Roboto SemiBold"/>
                <a:cs typeface="Roboto SemiBold"/>
                <a:sym typeface="Roboto SemiBold"/>
              </a:rPr>
              <a:t> that the CloudWalk’s transaction base is mainly driven by business clients.</a:t>
            </a:r>
            <a:endParaRPr sz="900">
              <a:latin typeface="Roboto SemiBold"/>
              <a:ea typeface="Roboto SemiBold"/>
              <a:cs typeface="Roboto SemiBold"/>
              <a:sym typeface="Roboto SemiBold"/>
            </a:endParaRPr>
          </a:p>
        </p:txBody>
      </p:sp>
      <p:pic>
        <p:nvPicPr>
          <p:cNvPr id="99" name="Google Shape;99;p17"/>
          <p:cNvPicPr preferRelativeResize="0"/>
          <p:nvPr/>
        </p:nvPicPr>
        <p:blipFill>
          <a:blip r:embed="rId3">
            <a:alphaModFix/>
          </a:blip>
          <a:stretch>
            <a:fillRect/>
          </a:stretch>
        </p:blipFill>
        <p:spPr>
          <a:xfrm>
            <a:off x="986667" y="2614243"/>
            <a:ext cx="2786575" cy="2142300"/>
          </a:xfrm>
          <a:prstGeom prst="rect">
            <a:avLst/>
          </a:prstGeom>
          <a:noFill/>
          <a:ln>
            <a:noFill/>
          </a:ln>
        </p:spPr>
      </p:pic>
      <p:sp>
        <p:nvSpPr>
          <p:cNvPr id="100" name="Google Shape;100;p17"/>
          <p:cNvSpPr txBox="1"/>
          <p:nvPr>
            <p:ph idx="4294967295" type="body"/>
          </p:nvPr>
        </p:nvSpPr>
        <p:spPr>
          <a:xfrm>
            <a:off x="4293750" y="2614250"/>
            <a:ext cx="4260300" cy="2142300"/>
          </a:xfrm>
          <a:prstGeom prst="rect">
            <a:avLst/>
          </a:prstGeom>
        </p:spPr>
        <p:txBody>
          <a:bodyPr anchorCtr="0" anchor="t" bIns="91425" lIns="91425" spcFirstLastPara="1" rIns="91425" wrap="square" tIns="91425">
            <a:normAutofit/>
          </a:bodyPr>
          <a:lstStyle/>
          <a:p>
            <a:pPr indent="0" lvl="0" marL="0" rtl="0" algn="just">
              <a:lnSpc>
                <a:spcPct val="105000"/>
              </a:lnSpc>
              <a:spcBef>
                <a:spcPts val="0"/>
              </a:spcBef>
              <a:spcAft>
                <a:spcPts val="0"/>
              </a:spcAft>
              <a:buNone/>
            </a:pPr>
            <a:r>
              <a:t/>
            </a:r>
            <a:endParaRPr sz="900">
              <a:latin typeface="Roboto SemiBold"/>
              <a:ea typeface="Roboto SemiBold"/>
              <a:cs typeface="Roboto SemiBold"/>
              <a:sym typeface="Roboto SemiBold"/>
            </a:endParaRPr>
          </a:p>
          <a:p>
            <a:pPr indent="0" lvl="0" marL="0" rtl="0" algn="just">
              <a:lnSpc>
                <a:spcPct val="105000"/>
              </a:lnSpc>
              <a:spcBef>
                <a:spcPts val="1200"/>
              </a:spcBef>
              <a:spcAft>
                <a:spcPts val="0"/>
              </a:spcAft>
              <a:buNone/>
            </a:pPr>
            <a:r>
              <a:rPr lang="pt-BR" sz="900">
                <a:latin typeface="Roboto SemiBold"/>
                <a:ea typeface="Roboto SemiBold"/>
                <a:cs typeface="Roboto SemiBold"/>
                <a:sym typeface="Roboto SemiBold"/>
              </a:rPr>
              <a:t>Looking into the Average TPV by Product, it is notable how PIX, reaching approximately 3.48 million, stands out overwhelmingly as the product with the highest average transaction volume.</a:t>
            </a:r>
            <a:endParaRPr sz="900">
              <a:latin typeface="Roboto SemiBold"/>
              <a:ea typeface="Roboto SemiBold"/>
              <a:cs typeface="Roboto SemiBold"/>
              <a:sym typeface="Roboto SemiBold"/>
            </a:endParaRPr>
          </a:p>
          <a:p>
            <a:pPr indent="0" lvl="0" marL="0" rtl="0" algn="just">
              <a:lnSpc>
                <a:spcPct val="105000"/>
              </a:lnSpc>
              <a:spcBef>
                <a:spcPts val="1200"/>
              </a:spcBef>
              <a:spcAft>
                <a:spcPts val="0"/>
              </a:spcAft>
              <a:buNone/>
            </a:pPr>
            <a:r>
              <a:rPr lang="pt-BR" sz="900">
                <a:latin typeface="Roboto SemiBold"/>
                <a:ea typeface="Roboto SemiBold"/>
                <a:cs typeface="Roboto SemiBold"/>
                <a:sym typeface="Roboto SemiBold"/>
              </a:rPr>
              <a:t>This may suggests that PIX is primarily used for high-value transfers rather than frequent, smaller purchases.</a:t>
            </a:r>
            <a:endParaRPr sz="900">
              <a:latin typeface="Roboto SemiBold"/>
              <a:ea typeface="Roboto SemiBold"/>
              <a:cs typeface="Roboto SemiBold"/>
              <a:sym typeface="Roboto SemiBold"/>
            </a:endParaRPr>
          </a:p>
          <a:p>
            <a:pPr indent="0" lvl="0" marL="0" rtl="0" algn="just">
              <a:lnSpc>
                <a:spcPct val="105000"/>
              </a:lnSpc>
              <a:spcBef>
                <a:spcPts val="1200"/>
              </a:spcBef>
              <a:spcAft>
                <a:spcPts val="1200"/>
              </a:spcAft>
              <a:buNone/>
            </a:pPr>
            <a:r>
              <a:rPr lang="pt-BR" sz="900">
                <a:latin typeface="Roboto SemiBold"/>
                <a:ea typeface="Roboto SemiBold"/>
                <a:cs typeface="Roboto SemiBold"/>
                <a:sym typeface="Roboto SemiBold"/>
              </a:rPr>
              <a:t>It demonstrates a promising opportunity for CloudWalk to capture even more TPV growth in the future while maintaining such a strong average transaction value.</a:t>
            </a:r>
            <a:endParaRPr sz="900">
              <a:latin typeface="Roboto SemiBold"/>
              <a:ea typeface="Roboto SemiBold"/>
              <a:cs typeface="Roboto SemiBold"/>
              <a:sym typeface="Roboto SemiBold"/>
            </a:endParaRPr>
          </a:p>
        </p:txBody>
      </p:sp>
      <p:sp>
        <p:nvSpPr>
          <p:cNvPr id="101" name="Google Shape;101;p17"/>
          <p:cNvSpPr/>
          <p:nvPr/>
        </p:nvSpPr>
        <p:spPr>
          <a:xfrm>
            <a:off x="986675" y="1118875"/>
            <a:ext cx="2786700" cy="294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sz="1200">
                <a:solidFill>
                  <a:srgbClr val="0D1117"/>
                </a:solidFill>
                <a:latin typeface="Roboto"/>
                <a:ea typeface="Roboto"/>
                <a:cs typeface="Roboto"/>
                <a:sym typeface="Roboto"/>
              </a:rPr>
              <a:t>Average </a:t>
            </a:r>
            <a:r>
              <a:rPr b="1" lang="pt-BR" sz="1200">
                <a:solidFill>
                  <a:srgbClr val="0D1117"/>
                </a:solidFill>
                <a:latin typeface="Roboto"/>
                <a:ea typeface="Roboto"/>
                <a:cs typeface="Roboto"/>
                <a:sym typeface="Roboto"/>
              </a:rPr>
              <a:t>TPV by Entity</a:t>
            </a:r>
            <a:endParaRPr b="1" sz="1200">
              <a:solidFill>
                <a:srgbClr val="0D1117"/>
              </a:solidFill>
              <a:latin typeface="Roboto"/>
              <a:ea typeface="Roboto"/>
              <a:cs typeface="Roboto"/>
              <a:sym typeface="Roboto"/>
            </a:endParaRPr>
          </a:p>
        </p:txBody>
      </p:sp>
      <p:sp>
        <p:nvSpPr>
          <p:cNvPr id="102" name="Google Shape;102;p17"/>
          <p:cNvSpPr/>
          <p:nvPr/>
        </p:nvSpPr>
        <p:spPr>
          <a:xfrm>
            <a:off x="986613" y="2614250"/>
            <a:ext cx="2786700" cy="294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sz="1200">
                <a:solidFill>
                  <a:srgbClr val="0D1117"/>
                </a:solidFill>
                <a:latin typeface="Roboto"/>
                <a:ea typeface="Roboto"/>
                <a:cs typeface="Roboto"/>
                <a:sym typeface="Roboto"/>
              </a:rPr>
              <a:t>Average TPV by Product</a:t>
            </a:r>
            <a:endParaRPr b="1" sz="1200">
              <a:solidFill>
                <a:srgbClr val="0D1117"/>
              </a:solidFill>
              <a:latin typeface="Roboto"/>
              <a:ea typeface="Roboto"/>
              <a:cs typeface="Roboto"/>
              <a:sym typeface="Roboto"/>
            </a:endParaRPr>
          </a:p>
        </p:txBody>
      </p:sp>
      <p:pic>
        <p:nvPicPr>
          <p:cNvPr id="103" name="Google Shape;103;p17"/>
          <p:cNvPicPr preferRelativeResize="0"/>
          <p:nvPr/>
        </p:nvPicPr>
        <p:blipFill>
          <a:blip r:embed="rId4">
            <a:alphaModFix/>
          </a:blip>
          <a:stretch>
            <a:fillRect/>
          </a:stretch>
        </p:blipFill>
        <p:spPr>
          <a:xfrm>
            <a:off x="986613" y="1444150"/>
            <a:ext cx="2786700" cy="946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p:nvPr/>
        </p:nvSpPr>
        <p:spPr>
          <a:xfrm>
            <a:off x="311700" y="182275"/>
            <a:ext cx="8475900" cy="696600"/>
          </a:xfrm>
          <a:prstGeom prst="rect">
            <a:avLst/>
          </a:prstGeom>
          <a:solidFill>
            <a:srgbClr val="11111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09" name="Google Shape;109;p18"/>
          <p:cNvSpPr txBox="1"/>
          <p:nvPr>
            <p:ph idx="4294967295" type="title"/>
          </p:nvPr>
        </p:nvSpPr>
        <p:spPr>
          <a:xfrm>
            <a:off x="311700" y="255246"/>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2600">
                <a:solidFill>
                  <a:srgbClr val="F0F6FC"/>
                </a:solidFill>
                <a:latin typeface="Merriweather Medium"/>
                <a:ea typeface="Merriweather Medium"/>
                <a:cs typeface="Merriweather Medium"/>
                <a:sym typeface="Merriweather Medium"/>
              </a:rPr>
              <a:t>Average Ticket</a:t>
            </a:r>
            <a:endParaRPr sz="2600">
              <a:solidFill>
                <a:srgbClr val="F0F6FC"/>
              </a:solidFill>
              <a:latin typeface="Merriweather Medium"/>
              <a:ea typeface="Merriweather Medium"/>
              <a:cs typeface="Merriweather Medium"/>
              <a:sym typeface="Merriweather Medium"/>
            </a:endParaRPr>
          </a:p>
        </p:txBody>
      </p:sp>
      <p:sp>
        <p:nvSpPr>
          <p:cNvPr id="110" name="Google Shape;110;p18"/>
          <p:cNvSpPr txBox="1"/>
          <p:nvPr>
            <p:ph idx="4294967295" type="body"/>
          </p:nvPr>
        </p:nvSpPr>
        <p:spPr>
          <a:xfrm>
            <a:off x="311700" y="999800"/>
            <a:ext cx="8475900" cy="11574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688"/>
              <a:buNone/>
            </a:pPr>
            <a:r>
              <a:rPr lang="pt-BR" sz="850">
                <a:latin typeface="Roboto SemiBold"/>
                <a:ea typeface="Roboto SemiBold"/>
                <a:cs typeface="Roboto SemiBold"/>
                <a:sym typeface="Roboto SemiBold"/>
              </a:rPr>
              <a:t>When analyzing the Average Ticket by Entity, PF present a higher value 260.83 compared to PJ, which average 108.74. This indicates that, on average, individual customers perform fewer but higher-value transactions, while business clients (PJ) operate with larger volumes but smaller ticket sizes per transaction.</a:t>
            </a:r>
            <a:endParaRPr sz="850">
              <a:latin typeface="Roboto SemiBold"/>
              <a:ea typeface="Roboto SemiBold"/>
              <a:cs typeface="Roboto SemiBold"/>
              <a:sym typeface="Roboto SemiBold"/>
            </a:endParaRPr>
          </a:p>
          <a:p>
            <a:pPr indent="0" lvl="0" marL="0" rtl="0" algn="just">
              <a:lnSpc>
                <a:spcPct val="95000"/>
              </a:lnSpc>
              <a:spcBef>
                <a:spcPts val="1200"/>
              </a:spcBef>
              <a:spcAft>
                <a:spcPts val="0"/>
              </a:spcAft>
              <a:buSzPts val="688"/>
              <a:buNone/>
            </a:pPr>
            <a:r>
              <a:rPr lang="pt-BR" sz="850">
                <a:latin typeface="Roboto SemiBold"/>
                <a:ea typeface="Roboto SemiBold"/>
                <a:cs typeface="Roboto SemiBold"/>
                <a:sym typeface="Roboto SemiBold"/>
              </a:rPr>
              <a:t>Observing the </a:t>
            </a:r>
            <a:r>
              <a:rPr lang="pt-BR" sz="850">
                <a:latin typeface="Roboto SemiBold"/>
                <a:ea typeface="Roboto SemiBold"/>
                <a:cs typeface="Roboto SemiBold"/>
                <a:sym typeface="Roboto SemiBold"/>
              </a:rPr>
              <a:t>Average Ticket by Product, the products with the highest average values are Bank Slip (739.70) and Link (644.93), which typically involve higher-value transactions; POS and PIX are used for more frequent, lower-value transactions and LINK is an intermediate</a:t>
            </a:r>
            <a:endParaRPr sz="850">
              <a:latin typeface="Roboto SemiBold"/>
              <a:ea typeface="Roboto SemiBold"/>
              <a:cs typeface="Roboto SemiBold"/>
              <a:sym typeface="Roboto SemiBold"/>
            </a:endParaRPr>
          </a:p>
          <a:p>
            <a:pPr indent="0" lvl="0" marL="0" rtl="0" algn="just">
              <a:lnSpc>
                <a:spcPct val="95000"/>
              </a:lnSpc>
              <a:spcBef>
                <a:spcPts val="1200"/>
              </a:spcBef>
              <a:spcAft>
                <a:spcPts val="1200"/>
              </a:spcAft>
              <a:buSzPts val="688"/>
              <a:buNone/>
            </a:pPr>
            <a:r>
              <a:rPr lang="pt-BR" sz="850">
                <a:latin typeface="Roboto SemiBold"/>
                <a:ea typeface="Roboto SemiBold"/>
                <a:cs typeface="Roboto SemiBold"/>
                <a:sym typeface="Roboto SemiBold"/>
              </a:rPr>
              <a:t>Average Ticket by Payment Method, Credit remains the leading method, with an average ticket of 317.6. This reinforces that credit-based transactions are associated with higher-value purchases.</a:t>
            </a:r>
            <a:endParaRPr sz="850">
              <a:latin typeface="Roboto SemiBold"/>
              <a:ea typeface="Roboto SemiBold"/>
              <a:cs typeface="Roboto SemiBold"/>
              <a:sym typeface="Roboto SemiBold"/>
            </a:endParaRPr>
          </a:p>
        </p:txBody>
      </p:sp>
      <p:pic>
        <p:nvPicPr>
          <p:cNvPr id="111" name="Google Shape;111;p18"/>
          <p:cNvPicPr preferRelativeResize="0"/>
          <p:nvPr/>
        </p:nvPicPr>
        <p:blipFill>
          <a:blip r:embed="rId3">
            <a:alphaModFix/>
          </a:blip>
          <a:stretch>
            <a:fillRect/>
          </a:stretch>
        </p:blipFill>
        <p:spPr>
          <a:xfrm>
            <a:off x="311700" y="2299326"/>
            <a:ext cx="1926050" cy="1907785"/>
          </a:xfrm>
          <a:prstGeom prst="rect">
            <a:avLst/>
          </a:prstGeom>
          <a:noFill/>
          <a:ln>
            <a:noFill/>
          </a:ln>
        </p:spPr>
      </p:pic>
      <p:pic>
        <p:nvPicPr>
          <p:cNvPr id="112" name="Google Shape;112;p18"/>
          <p:cNvPicPr preferRelativeResize="0"/>
          <p:nvPr/>
        </p:nvPicPr>
        <p:blipFill>
          <a:blip r:embed="rId4">
            <a:alphaModFix/>
          </a:blip>
          <a:stretch>
            <a:fillRect/>
          </a:stretch>
        </p:blipFill>
        <p:spPr>
          <a:xfrm>
            <a:off x="2419350" y="2299327"/>
            <a:ext cx="3181350" cy="2065572"/>
          </a:xfrm>
          <a:prstGeom prst="rect">
            <a:avLst/>
          </a:prstGeom>
          <a:noFill/>
          <a:ln>
            <a:noFill/>
          </a:ln>
        </p:spPr>
      </p:pic>
      <p:pic>
        <p:nvPicPr>
          <p:cNvPr id="113" name="Google Shape;113;p18"/>
          <p:cNvPicPr preferRelativeResize="0"/>
          <p:nvPr/>
        </p:nvPicPr>
        <p:blipFill>
          <a:blip r:embed="rId5">
            <a:alphaModFix/>
          </a:blip>
          <a:stretch>
            <a:fillRect/>
          </a:stretch>
        </p:blipFill>
        <p:spPr>
          <a:xfrm>
            <a:off x="5753100" y="2299327"/>
            <a:ext cx="3181350" cy="2019300"/>
          </a:xfrm>
          <a:prstGeom prst="rect">
            <a:avLst/>
          </a:prstGeom>
          <a:noFill/>
          <a:ln>
            <a:noFill/>
          </a:ln>
        </p:spPr>
      </p:pic>
      <p:sp>
        <p:nvSpPr>
          <p:cNvPr id="114" name="Google Shape;114;p18"/>
          <p:cNvSpPr/>
          <p:nvPr/>
        </p:nvSpPr>
        <p:spPr>
          <a:xfrm>
            <a:off x="311700" y="2217052"/>
            <a:ext cx="1926000" cy="326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sz="1200">
                <a:solidFill>
                  <a:srgbClr val="0D1117"/>
                </a:solidFill>
                <a:latin typeface="Roboto"/>
                <a:ea typeface="Roboto"/>
                <a:cs typeface="Roboto"/>
                <a:sym typeface="Roboto"/>
              </a:rPr>
              <a:t>Average Ticket by Entity</a:t>
            </a:r>
            <a:endParaRPr b="1" sz="1200">
              <a:solidFill>
                <a:srgbClr val="0D1117"/>
              </a:solidFill>
              <a:latin typeface="Roboto"/>
              <a:ea typeface="Roboto"/>
              <a:cs typeface="Roboto"/>
              <a:sym typeface="Roboto"/>
            </a:endParaRPr>
          </a:p>
        </p:txBody>
      </p:sp>
      <p:sp>
        <p:nvSpPr>
          <p:cNvPr id="115" name="Google Shape;115;p18"/>
          <p:cNvSpPr/>
          <p:nvPr/>
        </p:nvSpPr>
        <p:spPr>
          <a:xfrm>
            <a:off x="2419350" y="2217052"/>
            <a:ext cx="2152800" cy="326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sz="1200">
                <a:solidFill>
                  <a:srgbClr val="0D1117"/>
                </a:solidFill>
                <a:latin typeface="Roboto"/>
                <a:ea typeface="Roboto"/>
                <a:cs typeface="Roboto"/>
                <a:sym typeface="Roboto"/>
              </a:rPr>
              <a:t>Average Ticket by Product</a:t>
            </a:r>
            <a:endParaRPr b="1" sz="1200">
              <a:solidFill>
                <a:srgbClr val="0D1117"/>
              </a:solidFill>
              <a:latin typeface="Roboto"/>
              <a:ea typeface="Roboto"/>
              <a:cs typeface="Roboto"/>
              <a:sym typeface="Roboto"/>
            </a:endParaRPr>
          </a:p>
        </p:txBody>
      </p:sp>
      <p:sp>
        <p:nvSpPr>
          <p:cNvPr id="116" name="Google Shape;116;p18"/>
          <p:cNvSpPr/>
          <p:nvPr/>
        </p:nvSpPr>
        <p:spPr>
          <a:xfrm>
            <a:off x="5782300" y="2217052"/>
            <a:ext cx="2780700" cy="326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sz="1200">
                <a:solidFill>
                  <a:srgbClr val="0D1117"/>
                </a:solidFill>
                <a:latin typeface="Roboto"/>
                <a:ea typeface="Roboto"/>
                <a:cs typeface="Roboto"/>
                <a:sym typeface="Roboto"/>
              </a:rPr>
              <a:t>Average Ticket by Payment Method</a:t>
            </a:r>
            <a:endParaRPr b="1" sz="1200">
              <a:solidFill>
                <a:srgbClr val="0D1117"/>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p:nvPr/>
        </p:nvSpPr>
        <p:spPr>
          <a:xfrm>
            <a:off x="311700" y="182275"/>
            <a:ext cx="8475900" cy="696600"/>
          </a:xfrm>
          <a:prstGeom prst="rect">
            <a:avLst/>
          </a:prstGeom>
          <a:solidFill>
            <a:srgbClr val="11111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22" name="Google Shape;122;p19"/>
          <p:cNvSpPr txBox="1"/>
          <p:nvPr>
            <p:ph idx="4294967295" type="title"/>
          </p:nvPr>
        </p:nvSpPr>
        <p:spPr>
          <a:xfrm>
            <a:off x="289350" y="25517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2600">
                <a:solidFill>
                  <a:srgbClr val="F0F6FC"/>
                </a:solidFill>
                <a:latin typeface="Merriweather Medium"/>
                <a:ea typeface="Merriweather Medium"/>
                <a:cs typeface="Merriweather Medium"/>
                <a:sym typeface="Merriweather Medium"/>
              </a:rPr>
              <a:t>Installments Analysis</a:t>
            </a:r>
            <a:endParaRPr sz="2600">
              <a:solidFill>
                <a:srgbClr val="F0F6FC"/>
              </a:solidFill>
              <a:latin typeface="Merriweather Medium"/>
              <a:ea typeface="Merriweather Medium"/>
              <a:cs typeface="Merriweather Medium"/>
              <a:sym typeface="Merriweather Medium"/>
            </a:endParaRPr>
          </a:p>
        </p:txBody>
      </p:sp>
      <p:sp>
        <p:nvSpPr>
          <p:cNvPr id="123" name="Google Shape;123;p19"/>
          <p:cNvSpPr txBox="1"/>
          <p:nvPr>
            <p:ph idx="4294967295" type="body"/>
          </p:nvPr>
        </p:nvSpPr>
        <p:spPr>
          <a:xfrm>
            <a:off x="5961150" y="1602020"/>
            <a:ext cx="2871300" cy="2657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pt-BR" sz="1000">
                <a:latin typeface="Roboto SemiBold"/>
                <a:ea typeface="Roboto SemiBold"/>
                <a:cs typeface="Roboto SemiBold"/>
                <a:sym typeface="Roboto SemiBold"/>
              </a:rPr>
              <a:t>When analyzing Average Ticket and TPV by Installments, the highest TPV occurs in 1 installments transactions. It demonstrates that most of the total payment volume is concentrated in immediate, one-time payments. C</a:t>
            </a:r>
            <a:r>
              <a:rPr lang="pt-BR" sz="1000">
                <a:latin typeface="Roboto SemiBold"/>
                <a:ea typeface="Roboto SemiBold"/>
                <a:cs typeface="Roboto SemiBold"/>
                <a:sym typeface="Roboto SemiBold"/>
              </a:rPr>
              <a:t>onfirming a preference for upfront payments in lower-value transactions.</a:t>
            </a:r>
            <a:endParaRPr sz="1000">
              <a:latin typeface="Roboto SemiBold"/>
              <a:ea typeface="Roboto SemiBold"/>
              <a:cs typeface="Roboto SemiBold"/>
              <a:sym typeface="Roboto SemiBold"/>
            </a:endParaRPr>
          </a:p>
          <a:p>
            <a:pPr indent="0" lvl="0" marL="0" rtl="0" algn="just">
              <a:spcBef>
                <a:spcPts val="1200"/>
              </a:spcBef>
              <a:spcAft>
                <a:spcPts val="0"/>
              </a:spcAft>
              <a:buNone/>
            </a:pPr>
            <a:r>
              <a:rPr lang="pt-BR" sz="1000">
                <a:latin typeface="Roboto SemiBold"/>
                <a:ea typeface="Roboto SemiBold"/>
                <a:cs typeface="Roboto SemiBold"/>
                <a:sym typeface="Roboto SemiBold"/>
              </a:rPr>
              <a:t>However, as the number of installments increases, the TPV tends to decrease, but the Average Ticket rises sharply suggesting that higher-value purchases are almost always made through credit installments.</a:t>
            </a:r>
            <a:endParaRPr sz="1000">
              <a:latin typeface="Roboto SemiBold"/>
              <a:ea typeface="Roboto SemiBold"/>
              <a:cs typeface="Roboto SemiBold"/>
              <a:sym typeface="Roboto SemiBold"/>
            </a:endParaRPr>
          </a:p>
          <a:p>
            <a:pPr indent="0" lvl="0" marL="0" rtl="0" algn="just">
              <a:spcBef>
                <a:spcPts val="1200"/>
              </a:spcBef>
              <a:spcAft>
                <a:spcPts val="1200"/>
              </a:spcAft>
              <a:buNone/>
            </a:pPr>
            <a:r>
              <a:rPr lang="pt-BR" sz="1000">
                <a:latin typeface="Roboto SemiBold"/>
                <a:ea typeface="Roboto SemiBold"/>
                <a:cs typeface="Roboto SemiBold"/>
                <a:sym typeface="Roboto SemiBold"/>
              </a:rPr>
              <a:t>Encouraging the use of longer installment plans could increase overall TPV.</a:t>
            </a:r>
            <a:endParaRPr sz="1000">
              <a:latin typeface="Roboto SemiBold"/>
              <a:ea typeface="Roboto SemiBold"/>
              <a:cs typeface="Roboto SemiBold"/>
              <a:sym typeface="Roboto SemiBold"/>
            </a:endParaRPr>
          </a:p>
        </p:txBody>
      </p:sp>
      <p:pic>
        <p:nvPicPr>
          <p:cNvPr id="124" name="Google Shape;124;p19"/>
          <p:cNvPicPr preferRelativeResize="0"/>
          <p:nvPr/>
        </p:nvPicPr>
        <p:blipFill>
          <a:blip r:embed="rId3">
            <a:alphaModFix/>
          </a:blip>
          <a:stretch>
            <a:fillRect/>
          </a:stretch>
        </p:blipFill>
        <p:spPr>
          <a:xfrm>
            <a:off x="238025" y="1602020"/>
            <a:ext cx="5273625" cy="2657475"/>
          </a:xfrm>
          <a:prstGeom prst="rect">
            <a:avLst/>
          </a:prstGeom>
          <a:noFill/>
          <a:ln>
            <a:noFill/>
          </a:ln>
        </p:spPr>
      </p:pic>
      <p:sp>
        <p:nvSpPr>
          <p:cNvPr id="125" name="Google Shape;125;p19"/>
          <p:cNvSpPr/>
          <p:nvPr/>
        </p:nvSpPr>
        <p:spPr>
          <a:xfrm>
            <a:off x="238025" y="1602025"/>
            <a:ext cx="3765600" cy="34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200">
                <a:solidFill>
                  <a:srgbClr val="0D1117"/>
                </a:solidFill>
                <a:latin typeface="Roboto"/>
                <a:ea typeface="Roboto"/>
                <a:cs typeface="Roboto"/>
                <a:sym typeface="Roboto"/>
              </a:rPr>
              <a:t>Average Ticket and TPV by Installments</a:t>
            </a:r>
            <a:endParaRPr b="1" sz="1200">
              <a:solidFill>
                <a:srgbClr val="0D1117"/>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p:nvPr/>
        </p:nvSpPr>
        <p:spPr>
          <a:xfrm>
            <a:off x="311700" y="182275"/>
            <a:ext cx="8475900" cy="696600"/>
          </a:xfrm>
          <a:prstGeom prst="rect">
            <a:avLst/>
          </a:prstGeom>
          <a:solidFill>
            <a:srgbClr val="11111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31" name="Google Shape;131;p20"/>
          <p:cNvSpPr txBox="1"/>
          <p:nvPr>
            <p:ph idx="4294967295" type="title"/>
          </p:nvPr>
        </p:nvSpPr>
        <p:spPr>
          <a:xfrm>
            <a:off x="311725" y="25517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pt-BR" sz="2620">
                <a:solidFill>
                  <a:srgbClr val="F0F6FC"/>
                </a:solidFill>
                <a:latin typeface="Merriweather Medium"/>
                <a:ea typeface="Merriweather Medium"/>
                <a:cs typeface="Merriweather Medium"/>
                <a:sym typeface="Merriweather Medium"/>
              </a:rPr>
              <a:t>Price Tier Analysis</a:t>
            </a:r>
            <a:endParaRPr sz="2620">
              <a:solidFill>
                <a:srgbClr val="F0F6FC"/>
              </a:solidFill>
              <a:latin typeface="Merriweather Medium"/>
              <a:ea typeface="Merriweather Medium"/>
              <a:cs typeface="Merriweather Medium"/>
              <a:sym typeface="Merriweather Medium"/>
            </a:endParaRPr>
          </a:p>
          <a:p>
            <a:pPr indent="0" lvl="0" marL="0" rtl="0" algn="l">
              <a:spcBef>
                <a:spcPts val="0"/>
              </a:spcBef>
              <a:spcAft>
                <a:spcPts val="0"/>
              </a:spcAft>
              <a:buSzPts val="990"/>
              <a:buNone/>
            </a:pPr>
            <a:r>
              <a:t/>
            </a:r>
            <a:endParaRPr sz="2620">
              <a:solidFill>
                <a:srgbClr val="F0F6FC"/>
              </a:solidFill>
              <a:latin typeface="Merriweather Medium"/>
              <a:ea typeface="Merriweather Medium"/>
              <a:cs typeface="Merriweather Medium"/>
              <a:sym typeface="Merriweather Medium"/>
            </a:endParaRPr>
          </a:p>
          <a:p>
            <a:pPr indent="0" lvl="0" marL="0" rtl="0" algn="l">
              <a:spcBef>
                <a:spcPts val="0"/>
              </a:spcBef>
              <a:spcAft>
                <a:spcPts val="0"/>
              </a:spcAft>
              <a:buSzPts val="990"/>
              <a:buNone/>
            </a:pPr>
            <a:r>
              <a:t/>
            </a:r>
            <a:endParaRPr sz="2620">
              <a:solidFill>
                <a:srgbClr val="F0F6FC"/>
              </a:solidFill>
              <a:latin typeface="Merriweather Medium"/>
              <a:ea typeface="Merriweather Medium"/>
              <a:cs typeface="Merriweather Medium"/>
              <a:sym typeface="Merriweather Medium"/>
            </a:endParaRPr>
          </a:p>
        </p:txBody>
      </p:sp>
      <p:sp>
        <p:nvSpPr>
          <p:cNvPr id="132" name="Google Shape;132;p20"/>
          <p:cNvSpPr txBox="1"/>
          <p:nvPr>
            <p:ph idx="4294967295" type="body"/>
          </p:nvPr>
        </p:nvSpPr>
        <p:spPr>
          <a:xfrm>
            <a:off x="334050" y="3371200"/>
            <a:ext cx="8475900" cy="1185300"/>
          </a:xfrm>
          <a:prstGeom prst="rect">
            <a:avLst/>
          </a:prstGeom>
        </p:spPr>
        <p:txBody>
          <a:bodyPr anchorCtr="0" anchor="t" bIns="91425" lIns="91425" spcFirstLastPara="1" rIns="91425" wrap="square" tIns="91425">
            <a:normAutofit fontScale="77500" lnSpcReduction="20000"/>
          </a:bodyPr>
          <a:lstStyle/>
          <a:p>
            <a:pPr indent="0" lvl="0" marL="0" rtl="0" algn="just">
              <a:spcBef>
                <a:spcPts val="0"/>
              </a:spcBef>
              <a:spcAft>
                <a:spcPts val="0"/>
              </a:spcAft>
              <a:buNone/>
            </a:pPr>
            <a:r>
              <a:rPr lang="pt-BR" sz="1200">
                <a:latin typeface="Roboto SemiBold"/>
                <a:ea typeface="Roboto SemiBold"/>
                <a:cs typeface="Roboto SemiBold"/>
                <a:sym typeface="Roboto SemiBold"/>
              </a:rPr>
              <a:t>Performance Metrics across Price Tiers</a:t>
            </a:r>
            <a:r>
              <a:rPr lang="pt-BR" sz="1200">
                <a:latin typeface="Roboto SemiBold"/>
                <a:ea typeface="Roboto SemiBold"/>
                <a:cs typeface="Roboto SemiBold"/>
                <a:sym typeface="Roboto SemiBold"/>
              </a:rPr>
              <a:t> follow similar patterns</a:t>
            </a:r>
            <a:r>
              <a:rPr lang="pt-BR" sz="1200">
                <a:latin typeface="Roboto SemiBold"/>
                <a:ea typeface="Roboto SemiBold"/>
                <a:cs typeface="Roboto SemiBold"/>
                <a:sym typeface="Roboto SemiBold"/>
              </a:rPr>
              <a:t> regarding TPV, Total Transactions, and Average TPV with the Normal tier leading across all three metrics. It shows that the majority of CloudWalk’s activity occurs within the standard pricing model.</a:t>
            </a:r>
            <a:endParaRPr sz="1200">
              <a:latin typeface="Roboto SemiBold"/>
              <a:ea typeface="Roboto SemiBold"/>
              <a:cs typeface="Roboto SemiBold"/>
              <a:sym typeface="Roboto SemiBold"/>
            </a:endParaRPr>
          </a:p>
          <a:p>
            <a:pPr indent="0" lvl="0" marL="0" rtl="0" algn="just">
              <a:spcBef>
                <a:spcPts val="1200"/>
              </a:spcBef>
              <a:spcAft>
                <a:spcPts val="0"/>
              </a:spcAft>
              <a:buNone/>
            </a:pPr>
            <a:r>
              <a:rPr lang="pt-BR" sz="1200">
                <a:latin typeface="Roboto SemiBold"/>
                <a:ea typeface="Roboto SemiBold"/>
                <a:cs typeface="Roboto SemiBold"/>
                <a:sym typeface="Roboto SemiBold"/>
              </a:rPr>
              <a:t>But Average Ticket metric behaves differently, reaching the highest level under the Domination tier (R$234.5). So as</a:t>
            </a:r>
            <a:r>
              <a:rPr lang="pt-BR" sz="1200">
                <a:latin typeface="Roboto SemiBold"/>
                <a:ea typeface="Roboto SemiBold"/>
                <a:cs typeface="Roboto SemiBold"/>
                <a:sym typeface="Roboto SemiBold"/>
              </a:rPr>
              <a:t> the price tier increases, clients tend to process fewer but higher-value payments — possibly reflecting premium segments, higher-risk operations.</a:t>
            </a:r>
            <a:endParaRPr sz="1200">
              <a:latin typeface="Roboto SemiBold"/>
              <a:ea typeface="Roboto SemiBold"/>
              <a:cs typeface="Roboto SemiBold"/>
              <a:sym typeface="Roboto SemiBold"/>
            </a:endParaRPr>
          </a:p>
          <a:p>
            <a:pPr indent="0" lvl="0" marL="0" rtl="0" algn="just">
              <a:spcBef>
                <a:spcPts val="1200"/>
              </a:spcBef>
              <a:spcAft>
                <a:spcPts val="1200"/>
              </a:spcAft>
              <a:buNone/>
            </a:pPr>
            <a:r>
              <a:rPr lang="pt-BR" sz="1200">
                <a:latin typeface="Roboto SemiBold"/>
                <a:ea typeface="Roboto SemiBold"/>
                <a:cs typeface="Roboto SemiBold"/>
                <a:sym typeface="Roboto SemiBold"/>
              </a:rPr>
              <a:t>A balanced strategy could combine maintaining high TPV in the Normal tier while developing tailored offers for higher tiers to increase profitability.</a:t>
            </a:r>
            <a:endParaRPr sz="1200">
              <a:latin typeface="Roboto SemiBold"/>
              <a:ea typeface="Roboto SemiBold"/>
              <a:cs typeface="Roboto SemiBold"/>
              <a:sym typeface="Roboto SemiBold"/>
            </a:endParaRPr>
          </a:p>
        </p:txBody>
      </p:sp>
      <p:pic>
        <p:nvPicPr>
          <p:cNvPr id="133" name="Google Shape;133;p20"/>
          <p:cNvPicPr preferRelativeResize="0"/>
          <p:nvPr/>
        </p:nvPicPr>
        <p:blipFill>
          <a:blip r:embed="rId3">
            <a:alphaModFix/>
          </a:blip>
          <a:stretch>
            <a:fillRect/>
          </a:stretch>
        </p:blipFill>
        <p:spPr>
          <a:xfrm>
            <a:off x="311725" y="1328200"/>
            <a:ext cx="8475899" cy="1639100"/>
          </a:xfrm>
          <a:prstGeom prst="rect">
            <a:avLst/>
          </a:prstGeom>
          <a:noFill/>
          <a:ln>
            <a:noFill/>
          </a:ln>
        </p:spPr>
      </p:pic>
      <p:sp>
        <p:nvSpPr>
          <p:cNvPr id="134" name="Google Shape;134;p20"/>
          <p:cNvSpPr/>
          <p:nvPr/>
        </p:nvSpPr>
        <p:spPr>
          <a:xfrm>
            <a:off x="311700" y="1238150"/>
            <a:ext cx="3765600" cy="34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200">
                <a:solidFill>
                  <a:srgbClr val="0D1117"/>
                </a:solidFill>
                <a:latin typeface="Roboto"/>
                <a:ea typeface="Roboto"/>
                <a:cs typeface="Roboto"/>
                <a:sym typeface="Roboto"/>
              </a:rPr>
              <a:t>Performance Metrics across Price Tiers</a:t>
            </a:r>
            <a:endParaRPr b="1" sz="1200">
              <a:solidFill>
                <a:srgbClr val="0D1117"/>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idx="4294967295" type="title"/>
          </p:nvPr>
        </p:nvSpPr>
        <p:spPr>
          <a:xfrm>
            <a:off x="311700" y="255246"/>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solidFill>
                  <a:srgbClr val="222222"/>
                </a:solidFill>
                <a:latin typeface="Merriweather Medium"/>
                <a:ea typeface="Merriweather Medium"/>
                <a:cs typeface="Merriweather Medium"/>
                <a:sym typeface="Merriweather Medium"/>
              </a:rPr>
              <a:t>Anticipation Methods Analysis</a:t>
            </a:r>
            <a:endParaRPr>
              <a:solidFill>
                <a:srgbClr val="222222"/>
              </a:solidFill>
              <a:latin typeface="Merriweather Medium"/>
              <a:ea typeface="Merriweather Medium"/>
              <a:cs typeface="Merriweather Medium"/>
              <a:sym typeface="Merriweather Medium"/>
            </a:endParaRPr>
          </a:p>
          <a:p>
            <a:pPr indent="0" lvl="0" marL="0" rtl="0" algn="l">
              <a:spcBef>
                <a:spcPts val="0"/>
              </a:spcBef>
              <a:spcAft>
                <a:spcPts val="0"/>
              </a:spcAft>
              <a:buNone/>
            </a:pPr>
            <a:r>
              <a:t/>
            </a:r>
            <a:endParaRPr>
              <a:solidFill>
                <a:srgbClr val="222222"/>
              </a:solidFill>
              <a:latin typeface="Merriweather Medium"/>
              <a:ea typeface="Merriweather Medium"/>
              <a:cs typeface="Merriweather Medium"/>
              <a:sym typeface="Merriweather Medium"/>
            </a:endParaRPr>
          </a:p>
          <a:p>
            <a:pPr indent="0" lvl="0" marL="0" rtl="0" algn="l">
              <a:spcBef>
                <a:spcPts val="0"/>
              </a:spcBef>
              <a:spcAft>
                <a:spcPts val="0"/>
              </a:spcAft>
              <a:buNone/>
            </a:pPr>
            <a:r>
              <a:t/>
            </a:r>
            <a:endParaRPr>
              <a:solidFill>
                <a:srgbClr val="222222"/>
              </a:solidFill>
              <a:latin typeface="Merriweather Medium"/>
              <a:ea typeface="Merriweather Medium"/>
              <a:cs typeface="Merriweather Medium"/>
              <a:sym typeface="Merriweather Medium"/>
            </a:endParaRPr>
          </a:p>
        </p:txBody>
      </p:sp>
      <p:sp>
        <p:nvSpPr>
          <p:cNvPr id="140" name="Google Shape;140;p21"/>
          <p:cNvSpPr txBox="1"/>
          <p:nvPr>
            <p:ph idx="4294967295" type="body"/>
          </p:nvPr>
        </p:nvSpPr>
        <p:spPr>
          <a:xfrm>
            <a:off x="4809650" y="2789350"/>
            <a:ext cx="3863400" cy="1942800"/>
          </a:xfrm>
          <a:prstGeom prst="rect">
            <a:avLst/>
          </a:prstGeom>
        </p:spPr>
        <p:txBody>
          <a:bodyPr anchorCtr="0" anchor="t" bIns="91425" lIns="91425" spcFirstLastPara="1" rIns="91425" wrap="square" tIns="91425">
            <a:noAutofit/>
          </a:bodyPr>
          <a:lstStyle/>
          <a:p>
            <a:pPr indent="0" lvl="0" marL="0" rtl="0" algn="just">
              <a:lnSpc>
                <a:spcPct val="85000"/>
              </a:lnSpc>
              <a:spcBef>
                <a:spcPts val="0"/>
              </a:spcBef>
              <a:spcAft>
                <a:spcPts val="0"/>
              </a:spcAft>
              <a:buSzPts val="770"/>
              <a:buNone/>
            </a:pPr>
            <a:r>
              <a:rPr lang="pt-BR" sz="800">
                <a:latin typeface="Roboto SemiBold"/>
                <a:ea typeface="Roboto SemiBold"/>
                <a:cs typeface="Roboto SemiBold"/>
                <a:sym typeface="Roboto SemiBold"/>
              </a:rPr>
              <a:t>Analyzing the Performance Metrics across Anticipation Methods, we can see that D1 Anticipation clearly dominates, reaching R$9.8 billion in TPV and 68.4 million transactions and representing the main anticipation mechanism used by CloudWalk’s clients</a:t>
            </a:r>
            <a:endParaRPr sz="800">
              <a:latin typeface="Roboto SemiBold"/>
              <a:ea typeface="Roboto SemiBold"/>
              <a:cs typeface="Roboto SemiBold"/>
              <a:sym typeface="Roboto SemiBold"/>
            </a:endParaRPr>
          </a:p>
          <a:p>
            <a:pPr indent="0" lvl="0" marL="0" rtl="0" algn="just">
              <a:lnSpc>
                <a:spcPct val="85000"/>
              </a:lnSpc>
              <a:spcBef>
                <a:spcPts val="1200"/>
              </a:spcBef>
              <a:spcAft>
                <a:spcPts val="0"/>
              </a:spcAft>
              <a:buSzPts val="770"/>
              <a:buNone/>
            </a:pPr>
            <a:r>
              <a:rPr lang="pt-BR" sz="800">
                <a:latin typeface="Roboto SemiBold"/>
                <a:ea typeface="Roboto SemiBold"/>
                <a:cs typeface="Roboto SemiBold"/>
                <a:sym typeface="Roboto SemiBold"/>
              </a:rPr>
              <a:t>Other methods such as Pix (R$2.2 billion TPV) and D0/Nitro (R$1.3 billion TPV) also contribute significantly, but with smaller transaction volumes. Bank Slip, although representing a very small share in TPV, shows the highest Average Ticket (R$820.7).</a:t>
            </a:r>
            <a:endParaRPr sz="800">
              <a:latin typeface="Roboto SemiBold"/>
              <a:ea typeface="Roboto SemiBold"/>
              <a:cs typeface="Roboto SemiBold"/>
              <a:sym typeface="Roboto SemiBold"/>
            </a:endParaRPr>
          </a:p>
          <a:p>
            <a:pPr indent="0" lvl="0" marL="0" rtl="0" algn="just">
              <a:lnSpc>
                <a:spcPct val="85000"/>
              </a:lnSpc>
              <a:spcBef>
                <a:spcPts val="1200"/>
              </a:spcBef>
              <a:spcAft>
                <a:spcPts val="0"/>
              </a:spcAft>
              <a:buSzPts val="770"/>
              <a:buNone/>
            </a:pPr>
            <a:r>
              <a:rPr lang="pt-BR" sz="800">
                <a:latin typeface="Roboto SemiBold"/>
                <a:ea typeface="Roboto SemiBold"/>
                <a:cs typeface="Roboto SemiBold"/>
                <a:sym typeface="Roboto SemiBold"/>
              </a:rPr>
              <a:t>Breaking down Total Transactions by Entity and Anticipation Method, PJ clients are clearly more active in anticipation usage, especially under D1 Anticipation, while PF clients tend to use Pix and Bank Slip. This segmentation suggests opportunities to expand anticipation products tailored to each client type — for example, optimizing D0/Nitro conditions for PF and premium D1 Anticipation packages for PJ.</a:t>
            </a:r>
            <a:endParaRPr sz="800">
              <a:latin typeface="Roboto SemiBold"/>
              <a:ea typeface="Roboto SemiBold"/>
              <a:cs typeface="Roboto SemiBold"/>
              <a:sym typeface="Roboto SemiBold"/>
            </a:endParaRPr>
          </a:p>
          <a:p>
            <a:pPr indent="0" lvl="0" marL="0" rtl="0" algn="just">
              <a:lnSpc>
                <a:spcPct val="85000"/>
              </a:lnSpc>
              <a:spcBef>
                <a:spcPts val="1200"/>
              </a:spcBef>
              <a:spcAft>
                <a:spcPts val="1200"/>
              </a:spcAft>
              <a:buSzPts val="770"/>
              <a:buNone/>
            </a:pPr>
            <a:r>
              <a:t/>
            </a:r>
            <a:endParaRPr sz="800">
              <a:latin typeface="Roboto SemiBold"/>
              <a:ea typeface="Roboto SemiBold"/>
              <a:cs typeface="Roboto SemiBold"/>
              <a:sym typeface="Roboto SemiBold"/>
            </a:endParaRPr>
          </a:p>
        </p:txBody>
      </p:sp>
      <p:pic>
        <p:nvPicPr>
          <p:cNvPr id="141" name="Google Shape;141;p21"/>
          <p:cNvPicPr preferRelativeResize="0"/>
          <p:nvPr/>
        </p:nvPicPr>
        <p:blipFill>
          <a:blip r:embed="rId3">
            <a:alphaModFix/>
          </a:blip>
          <a:stretch>
            <a:fillRect/>
          </a:stretch>
        </p:blipFill>
        <p:spPr>
          <a:xfrm>
            <a:off x="418725" y="2789350"/>
            <a:ext cx="4028201" cy="2183188"/>
          </a:xfrm>
          <a:prstGeom prst="rect">
            <a:avLst/>
          </a:prstGeom>
          <a:noFill/>
          <a:ln>
            <a:noFill/>
          </a:ln>
        </p:spPr>
      </p:pic>
      <p:pic>
        <p:nvPicPr>
          <p:cNvPr id="142" name="Google Shape;142;p21"/>
          <p:cNvPicPr preferRelativeResize="0"/>
          <p:nvPr/>
        </p:nvPicPr>
        <p:blipFill>
          <a:blip r:embed="rId4">
            <a:alphaModFix/>
          </a:blip>
          <a:stretch>
            <a:fillRect/>
          </a:stretch>
        </p:blipFill>
        <p:spPr>
          <a:xfrm>
            <a:off x="418725" y="969575"/>
            <a:ext cx="7443137" cy="1602175"/>
          </a:xfrm>
          <a:prstGeom prst="rect">
            <a:avLst/>
          </a:prstGeom>
          <a:noFill/>
          <a:ln>
            <a:noFill/>
          </a:ln>
        </p:spPr>
      </p:pic>
      <p:sp>
        <p:nvSpPr>
          <p:cNvPr id="143" name="Google Shape;143;p21"/>
          <p:cNvSpPr/>
          <p:nvPr/>
        </p:nvSpPr>
        <p:spPr>
          <a:xfrm>
            <a:off x="349100" y="856575"/>
            <a:ext cx="3765600" cy="34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100">
                <a:solidFill>
                  <a:srgbClr val="0D1117"/>
                </a:solidFill>
                <a:latin typeface="Roboto"/>
                <a:ea typeface="Roboto"/>
                <a:cs typeface="Roboto"/>
                <a:sym typeface="Roboto"/>
              </a:rPr>
              <a:t>Performance Metrics across </a:t>
            </a:r>
            <a:r>
              <a:rPr b="1" lang="pt-BR" sz="1100">
                <a:solidFill>
                  <a:srgbClr val="0D1117"/>
                </a:solidFill>
                <a:latin typeface="Roboto"/>
                <a:ea typeface="Roboto"/>
                <a:cs typeface="Roboto"/>
                <a:sym typeface="Roboto"/>
              </a:rPr>
              <a:t>Anticipation Methods</a:t>
            </a:r>
            <a:endParaRPr b="1" sz="1100">
              <a:solidFill>
                <a:srgbClr val="0D1117"/>
              </a:solidFill>
              <a:latin typeface="Roboto"/>
              <a:ea typeface="Roboto"/>
              <a:cs typeface="Roboto"/>
              <a:sym typeface="Roboto"/>
            </a:endParaRPr>
          </a:p>
        </p:txBody>
      </p:sp>
      <p:sp>
        <p:nvSpPr>
          <p:cNvPr id="144" name="Google Shape;144;p21"/>
          <p:cNvSpPr/>
          <p:nvPr/>
        </p:nvSpPr>
        <p:spPr>
          <a:xfrm>
            <a:off x="418725" y="2759625"/>
            <a:ext cx="3765600" cy="34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100">
                <a:solidFill>
                  <a:srgbClr val="0D1117"/>
                </a:solidFill>
                <a:latin typeface="Roboto"/>
                <a:ea typeface="Roboto"/>
                <a:cs typeface="Roboto"/>
                <a:sym typeface="Roboto"/>
              </a:rPr>
              <a:t>Total Transactions</a:t>
            </a:r>
            <a:r>
              <a:rPr b="1" lang="pt-BR" sz="1100">
                <a:solidFill>
                  <a:srgbClr val="0D1117"/>
                </a:solidFill>
                <a:latin typeface="Roboto"/>
                <a:ea typeface="Roboto"/>
                <a:cs typeface="Roboto"/>
                <a:sym typeface="Roboto"/>
              </a:rPr>
              <a:t> by Entity and Anticipation Methods</a:t>
            </a:r>
            <a:endParaRPr b="1" sz="1100">
              <a:solidFill>
                <a:srgbClr val="0D1117"/>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solidFill>
                  <a:srgbClr val="F0F6FC"/>
                </a:solidFill>
                <a:latin typeface="Merriweather Medium"/>
                <a:ea typeface="Merriweather Medium"/>
                <a:cs typeface="Merriweather Medium"/>
                <a:sym typeface="Merriweather Medium"/>
              </a:rPr>
              <a:t>Weekday Analysis</a:t>
            </a:r>
            <a:endParaRPr>
              <a:solidFill>
                <a:srgbClr val="F0F6FC"/>
              </a:solidFill>
              <a:latin typeface="Merriweather Medium"/>
              <a:ea typeface="Merriweather Medium"/>
              <a:cs typeface="Merriweather Medium"/>
              <a:sym typeface="Merriweather Medium"/>
            </a:endParaRPr>
          </a:p>
        </p:txBody>
      </p:sp>
      <p:sp>
        <p:nvSpPr>
          <p:cNvPr id="150" name="Google Shape;150;p22"/>
          <p:cNvSpPr txBox="1"/>
          <p:nvPr>
            <p:ph idx="2" type="body"/>
          </p:nvPr>
        </p:nvSpPr>
        <p:spPr>
          <a:xfrm>
            <a:off x="5961150" y="1602020"/>
            <a:ext cx="2871300" cy="26574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688"/>
              <a:buNone/>
            </a:pPr>
            <a:r>
              <a:rPr lang="pt-BR" sz="850">
                <a:latin typeface="Roboto SemiBold"/>
                <a:ea typeface="Roboto SemiBold"/>
                <a:cs typeface="Roboto SemiBold"/>
                <a:sym typeface="Roboto SemiBold"/>
              </a:rPr>
              <a:t>When analyzing TPV by Weekday, a clear pattern emerges between weekdays and weekends.</a:t>
            </a:r>
            <a:endParaRPr sz="850">
              <a:latin typeface="Roboto SemiBold"/>
              <a:ea typeface="Roboto SemiBold"/>
              <a:cs typeface="Roboto SemiBold"/>
              <a:sym typeface="Roboto SemiBold"/>
            </a:endParaRPr>
          </a:p>
          <a:p>
            <a:pPr indent="0" lvl="0" marL="0" rtl="0" algn="just">
              <a:lnSpc>
                <a:spcPct val="95000"/>
              </a:lnSpc>
              <a:spcBef>
                <a:spcPts val="1200"/>
              </a:spcBef>
              <a:spcAft>
                <a:spcPts val="0"/>
              </a:spcAft>
              <a:buSzPts val="688"/>
              <a:buNone/>
            </a:pPr>
            <a:r>
              <a:rPr lang="pt-BR" sz="850">
                <a:latin typeface="Roboto SemiBold"/>
                <a:ea typeface="Roboto SemiBold"/>
                <a:cs typeface="Roboto SemiBold"/>
                <a:sym typeface="Roboto SemiBold"/>
              </a:rPr>
              <a:t>During the workweek (Monday to Friday), TPV values remain consistently high — ranging from R$2.84 billion on Tuesday to R$3.31 billion on Thursday, which is the peak of weekly activity.</a:t>
            </a:r>
            <a:endParaRPr sz="850">
              <a:latin typeface="Roboto SemiBold"/>
              <a:ea typeface="Roboto SemiBold"/>
              <a:cs typeface="Roboto SemiBold"/>
              <a:sym typeface="Roboto SemiBold"/>
            </a:endParaRPr>
          </a:p>
          <a:p>
            <a:pPr indent="0" lvl="0" marL="0" rtl="0" algn="just">
              <a:lnSpc>
                <a:spcPct val="95000"/>
              </a:lnSpc>
              <a:spcBef>
                <a:spcPts val="1200"/>
              </a:spcBef>
              <a:spcAft>
                <a:spcPts val="0"/>
              </a:spcAft>
              <a:buSzPts val="688"/>
              <a:buNone/>
            </a:pPr>
            <a:r>
              <a:rPr lang="pt-BR" sz="850">
                <a:latin typeface="Roboto SemiBold"/>
                <a:ea typeface="Roboto SemiBold"/>
                <a:cs typeface="Roboto SemiBold"/>
                <a:sym typeface="Roboto SemiBold"/>
              </a:rPr>
              <a:t>In contrast, on weekends there is a sharp decline, with Saturday at R$2.52 billion and Sunday dropping to only R$1.37 billion, the lowest level of the week.</a:t>
            </a:r>
            <a:endParaRPr sz="850">
              <a:latin typeface="Roboto SemiBold"/>
              <a:ea typeface="Roboto SemiBold"/>
              <a:cs typeface="Roboto SemiBold"/>
              <a:sym typeface="Roboto SemiBold"/>
            </a:endParaRPr>
          </a:p>
          <a:p>
            <a:pPr indent="0" lvl="0" marL="0" rtl="0" algn="just">
              <a:lnSpc>
                <a:spcPct val="95000"/>
              </a:lnSpc>
              <a:spcBef>
                <a:spcPts val="1200"/>
              </a:spcBef>
              <a:spcAft>
                <a:spcPts val="0"/>
              </a:spcAft>
              <a:buSzPts val="688"/>
              <a:buNone/>
            </a:pPr>
            <a:r>
              <a:rPr lang="pt-BR" sz="850">
                <a:latin typeface="Roboto SemiBold"/>
                <a:ea typeface="Roboto SemiBold"/>
                <a:cs typeface="Roboto SemiBold"/>
                <a:sym typeface="Roboto SemiBold"/>
              </a:rPr>
              <a:t>This indicates that most transactions and payment volumes occur during business days, reflecting the commercial nature of CloudWalk’s client base, companies whose operations are concentrated on weekdays.</a:t>
            </a:r>
            <a:endParaRPr sz="850">
              <a:latin typeface="Roboto SemiBold"/>
              <a:ea typeface="Roboto SemiBold"/>
              <a:cs typeface="Roboto SemiBold"/>
              <a:sym typeface="Roboto SemiBold"/>
            </a:endParaRPr>
          </a:p>
          <a:p>
            <a:pPr indent="0" lvl="0" marL="0" rtl="0" algn="just">
              <a:lnSpc>
                <a:spcPct val="95000"/>
              </a:lnSpc>
              <a:spcBef>
                <a:spcPts val="1200"/>
              </a:spcBef>
              <a:spcAft>
                <a:spcPts val="1200"/>
              </a:spcAft>
              <a:buSzPts val="688"/>
              <a:buNone/>
            </a:pPr>
            <a:r>
              <a:rPr lang="pt-BR" sz="850">
                <a:latin typeface="Roboto SemiBold"/>
                <a:ea typeface="Roboto SemiBold"/>
                <a:cs typeface="Roboto SemiBold"/>
                <a:sym typeface="Roboto SemiBold"/>
              </a:rPr>
              <a:t>Marketing or operational strategies could focus on stimulating weekend activity, such as offering discounted fees or faster settlement options for Saturday and Sunday processing.</a:t>
            </a:r>
            <a:endParaRPr sz="850">
              <a:latin typeface="Roboto SemiBold"/>
              <a:ea typeface="Roboto SemiBold"/>
              <a:cs typeface="Roboto SemiBold"/>
              <a:sym typeface="Roboto SemiBold"/>
            </a:endParaRPr>
          </a:p>
        </p:txBody>
      </p:sp>
      <p:pic>
        <p:nvPicPr>
          <p:cNvPr id="151" name="Google Shape;151;p22"/>
          <p:cNvPicPr preferRelativeResize="0"/>
          <p:nvPr/>
        </p:nvPicPr>
        <p:blipFill>
          <a:blip r:embed="rId3">
            <a:alphaModFix/>
          </a:blip>
          <a:stretch>
            <a:fillRect/>
          </a:stretch>
        </p:blipFill>
        <p:spPr>
          <a:xfrm>
            <a:off x="311725" y="1640097"/>
            <a:ext cx="5353050" cy="2581275"/>
          </a:xfrm>
          <a:prstGeom prst="rect">
            <a:avLst/>
          </a:prstGeom>
          <a:noFill/>
          <a:ln>
            <a:noFill/>
          </a:ln>
        </p:spPr>
      </p:pic>
      <p:sp>
        <p:nvSpPr>
          <p:cNvPr id="152" name="Google Shape;152;p22"/>
          <p:cNvSpPr/>
          <p:nvPr/>
        </p:nvSpPr>
        <p:spPr>
          <a:xfrm>
            <a:off x="311725" y="1730900"/>
            <a:ext cx="3765600" cy="34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pt-BR" sz="1100">
                <a:solidFill>
                  <a:srgbClr val="0D1117"/>
                </a:solidFill>
                <a:latin typeface="Roboto"/>
                <a:ea typeface="Roboto"/>
                <a:cs typeface="Roboto"/>
                <a:sym typeface="Roboto"/>
              </a:rPr>
              <a:t>TPV</a:t>
            </a:r>
            <a:r>
              <a:rPr b="1" lang="pt-BR" sz="1100">
                <a:solidFill>
                  <a:srgbClr val="0D1117"/>
                </a:solidFill>
                <a:latin typeface="Roboto"/>
                <a:ea typeface="Roboto"/>
                <a:cs typeface="Roboto"/>
                <a:sym typeface="Roboto"/>
              </a:rPr>
              <a:t> by Day of the Week</a:t>
            </a:r>
            <a:endParaRPr b="1" sz="1100">
              <a:solidFill>
                <a:srgbClr val="0D1117"/>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311725" y="500925"/>
            <a:ext cx="3706500" cy="96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3000"/>
              <a:t>Bot Proposal</a:t>
            </a:r>
            <a:endParaRPr sz="3000"/>
          </a:p>
        </p:txBody>
      </p:sp>
      <p:sp>
        <p:nvSpPr>
          <p:cNvPr id="158" name="Google Shape;158;p23"/>
          <p:cNvSpPr txBox="1"/>
          <p:nvPr>
            <p:ph idx="1" type="body"/>
          </p:nvPr>
        </p:nvSpPr>
        <p:spPr>
          <a:xfrm>
            <a:off x="4640925" y="139275"/>
            <a:ext cx="4166400" cy="45555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pt-BR" sz="1000">
                <a:latin typeface="Roboto SemiBold"/>
                <a:ea typeface="Roboto SemiBold"/>
                <a:cs typeface="Roboto SemiBold"/>
                <a:sym typeface="Roboto SemiBold"/>
              </a:rPr>
              <a:t>General Structure</a:t>
            </a:r>
            <a:r>
              <a:rPr lang="pt-BR" sz="1000">
                <a:latin typeface="Roboto SemiBold"/>
                <a:ea typeface="Roboto SemiBold"/>
                <a:cs typeface="Roboto SemiBold"/>
                <a:sym typeface="Roboto SemiBold"/>
              </a:rPr>
              <a:t>:</a:t>
            </a:r>
            <a:endParaRPr sz="1000">
              <a:latin typeface="Roboto SemiBold"/>
              <a:ea typeface="Roboto SemiBold"/>
              <a:cs typeface="Roboto SemiBold"/>
              <a:sym typeface="Roboto SemiBold"/>
            </a:endParaRPr>
          </a:p>
          <a:p>
            <a:pPr indent="-292100" lvl="0" marL="457200" rtl="0" algn="just">
              <a:spcBef>
                <a:spcPts val="1200"/>
              </a:spcBef>
              <a:spcAft>
                <a:spcPts val="0"/>
              </a:spcAft>
              <a:buSzPts val="1000"/>
              <a:buFont typeface="Roboto SemiBold"/>
              <a:buAutoNum type="arabicPeriod"/>
            </a:pPr>
            <a:r>
              <a:rPr lang="pt-BR" sz="1000">
                <a:latin typeface="Roboto SemiBold"/>
                <a:ea typeface="Roboto SemiBold"/>
                <a:cs typeface="Roboto SemiBold"/>
                <a:sym typeface="Roboto SemiBold"/>
              </a:rPr>
              <a:t>Data Connection and Extraction</a:t>
            </a:r>
            <a:endParaRPr sz="1000">
              <a:latin typeface="Roboto SemiBold"/>
              <a:ea typeface="Roboto SemiBold"/>
              <a:cs typeface="Roboto SemiBold"/>
              <a:sym typeface="Roboto SemiBold"/>
            </a:endParaRPr>
          </a:p>
          <a:p>
            <a:pPr indent="-292100" lvl="1" marL="914400" rtl="0" algn="just">
              <a:spcBef>
                <a:spcPts val="0"/>
              </a:spcBef>
              <a:spcAft>
                <a:spcPts val="0"/>
              </a:spcAft>
              <a:buSzPts val="1000"/>
              <a:buFont typeface="Roboto SemiBold"/>
              <a:buAutoNum type="alphaLcPeriod"/>
            </a:pPr>
            <a:r>
              <a:rPr lang="pt-BR" sz="1000">
                <a:latin typeface="Roboto SemiBold"/>
                <a:ea typeface="Roboto SemiBold"/>
                <a:cs typeface="Roboto SemiBold"/>
                <a:sym typeface="Roboto SemiBold"/>
              </a:rPr>
              <a:t>Establish a secure connection with the transactional database;</a:t>
            </a:r>
            <a:endParaRPr sz="1000">
              <a:latin typeface="Roboto SemiBold"/>
              <a:ea typeface="Roboto SemiBold"/>
              <a:cs typeface="Roboto SemiBold"/>
              <a:sym typeface="Roboto SemiBold"/>
            </a:endParaRPr>
          </a:p>
          <a:p>
            <a:pPr indent="-292100" lvl="1" marL="914400" rtl="0" algn="just">
              <a:spcBef>
                <a:spcPts val="0"/>
              </a:spcBef>
              <a:spcAft>
                <a:spcPts val="0"/>
              </a:spcAft>
              <a:buSzPts val="1000"/>
              <a:buFont typeface="Roboto SemiBold"/>
              <a:buAutoNum type="alphaLcPeriod"/>
            </a:pPr>
            <a:r>
              <a:rPr lang="pt-BR" sz="1000">
                <a:latin typeface="Roboto SemiBold"/>
                <a:ea typeface="Roboto SemiBold"/>
                <a:cs typeface="Roboto SemiBold"/>
                <a:sym typeface="Roboto SemiBold"/>
              </a:rPr>
              <a:t>Automatically extract daily data updates related to TPV, transactions, and average ticket.</a:t>
            </a:r>
            <a:endParaRPr sz="1000">
              <a:latin typeface="Roboto SemiBold"/>
              <a:ea typeface="Roboto SemiBold"/>
              <a:cs typeface="Roboto SemiBold"/>
              <a:sym typeface="Roboto SemiBold"/>
            </a:endParaRPr>
          </a:p>
          <a:p>
            <a:pPr indent="-292100" lvl="0" marL="457200" rtl="0" algn="just">
              <a:spcBef>
                <a:spcPts val="0"/>
              </a:spcBef>
              <a:spcAft>
                <a:spcPts val="0"/>
              </a:spcAft>
              <a:buSzPts val="1000"/>
              <a:buFont typeface="Roboto SemiBold"/>
              <a:buAutoNum type="arabicPeriod"/>
            </a:pPr>
            <a:r>
              <a:rPr lang="pt-BR" sz="1000">
                <a:latin typeface="Roboto SemiBold"/>
                <a:ea typeface="Roboto SemiBold"/>
                <a:cs typeface="Roboto SemiBold"/>
                <a:sym typeface="Roboto SemiBold"/>
              </a:rPr>
              <a:t>Analysis and Comparison</a:t>
            </a:r>
            <a:endParaRPr sz="1000">
              <a:latin typeface="Roboto SemiBold"/>
              <a:ea typeface="Roboto SemiBold"/>
              <a:cs typeface="Roboto SemiBold"/>
              <a:sym typeface="Roboto SemiBold"/>
            </a:endParaRPr>
          </a:p>
          <a:p>
            <a:pPr indent="-292100" lvl="1" marL="914400" rtl="0" algn="just">
              <a:spcBef>
                <a:spcPts val="0"/>
              </a:spcBef>
              <a:spcAft>
                <a:spcPts val="0"/>
              </a:spcAft>
              <a:buSzPts val="1000"/>
              <a:buFont typeface="Roboto SemiBold"/>
              <a:buAutoNum type="alphaLcPeriod"/>
            </a:pPr>
            <a:r>
              <a:rPr lang="pt-BR" sz="1000">
                <a:latin typeface="Roboto SemiBold"/>
                <a:ea typeface="Roboto SemiBold"/>
                <a:cs typeface="Roboto SemiBold"/>
                <a:sym typeface="Roboto SemiBold"/>
              </a:rPr>
              <a:t>Calculate the main KPIs (TPV, transactions, and average ticket);</a:t>
            </a:r>
            <a:endParaRPr sz="1000">
              <a:latin typeface="Roboto SemiBold"/>
              <a:ea typeface="Roboto SemiBold"/>
              <a:cs typeface="Roboto SemiBold"/>
              <a:sym typeface="Roboto SemiBold"/>
            </a:endParaRPr>
          </a:p>
          <a:p>
            <a:pPr indent="-292100" lvl="1" marL="914400" rtl="0" algn="just">
              <a:spcBef>
                <a:spcPts val="0"/>
              </a:spcBef>
              <a:spcAft>
                <a:spcPts val="0"/>
              </a:spcAft>
              <a:buSzPts val="1000"/>
              <a:buFont typeface="Roboto SemiBold"/>
              <a:buAutoNum type="alphaLcPeriod"/>
            </a:pPr>
            <a:r>
              <a:rPr lang="pt-BR" sz="1000">
                <a:latin typeface="Roboto SemiBold"/>
                <a:ea typeface="Roboto SemiBold"/>
                <a:cs typeface="Roboto SemiBold"/>
                <a:sym typeface="Roboto SemiBold"/>
              </a:rPr>
              <a:t>Perform daily, weekly, and monthly growth comparisons;</a:t>
            </a:r>
            <a:endParaRPr sz="1000">
              <a:latin typeface="Roboto SemiBold"/>
              <a:ea typeface="Roboto SemiBold"/>
              <a:cs typeface="Roboto SemiBold"/>
              <a:sym typeface="Roboto SemiBold"/>
            </a:endParaRPr>
          </a:p>
          <a:p>
            <a:pPr indent="-292100" lvl="1" marL="914400" rtl="0" algn="just">
              <a:spcBef>
                <a:spcPts val="0"/>
              </a:spcBef>
              <a:spcAft>
                <a:spcPts val="0"/>
              </a:spcAft>
              <a:buSzPts val="1000"/>
              <a:buFont typeface="Roboto SemiBold"/>
              <a:buAutoNum type="alphaLcPeriod"/>
            </a:pPr>
            <a:r>
              <a:rPr lang="pt-BR" sz="1000">
                <a:latin typeface="Roboto SemiBold"/>
                <a:ea typeface="Roboto SemiBold"/>
                <a:cs typeface="Roboto SemiBold"/>
                <a:sym typeface="Roboto SemiBold"/>
              </a:rPr>
              <a:t>Identify trends or anomalies in performance.</a:t>
            </a:r>
            <a:endParaRPr sz="1000">
              <a:latin typeface="Roboto SemiBold"/>
              <a:ea typeface="Roboto SemiBold"/>
              <a:cs typeface="Roboto SemiBold"/>
              <a:sym typeface="Roboto SemiBold"/>
            </a:endParaRPr>
          </a:p>
          <a:p>
            <a:pPr indent="-292100" lvl="0" marL="457200" rtl="0" algn="just">
              <a:spcBef>
                <a:spcPts val="0"/>
              </a:spcBef>
              <a:spcAft>
                <a:spcPts val="0"/>
              </a:spcAft>
              <a:buSzPts val="1000"/>
              <a:buFont typeface="Roboto SemiBold"/>
              <a:buAutoNum type="arabicPeriod"/>
            </a:pPr>
            <a:r>
              <a:rPr lang="pt-BR" sz="1000">
                <a:latin typeface="Roboto SemiBold"/>
                <a:ea typeface="Roboto SemiBold"/>
                <a:cs typeface="Roboto SemiBold"/>
                <a:sym typeface="Roboto SemiBold"/>
              </a:rPr>
              <a:t>Alert Definition</a:t>
            </a:r>
            <a:endParaRPr sz="1000">
              <a:latin typeface="Roboto SemiBold"/>
              <a:ea typeface="Roboto SemiBold"/>
              <a:cs typeface="Roboto SemiBold"/>
              <a:sym typeface="Roboto SemiBold"/>
            </a:endParaRPr>
          </a:p>
          <a:p>
            <a:pPr indent="-292100" lvl="1" marL="914400" rtl="0" algn="just">
              <a:spcBef>
                <a:spcPts val="0"/>
              </a:spcBef>
              <a:spcAft>
                <a:spcPts val="0"/>
              </a:spcAft>
              <a:buSzPts val="1000"/>
              <a:buFont typeface="Roboto SemiBold"/>
              <a:buAutoNum type="alphaLcPeriod"/>
            </a:pPr>
            <a:r>
              <a:rPr lang="pt-BR" sz="1000">
                <a:latin typeface="Roboto SemiBold"/>
                <a:ea typeface="Roboto SemiBold"/>
                <a:cs typeface="Roboto SemiBold"/>
                <a:sym typeface="Roboto SemiBold"/>
              </a:rPr>
              <a:t>Set alert thresholds based on variations or deviations from historical averages;</a:t>
            </a:r>
            <a:endParaRPr sz="1000">
              <a:latin typeface="Roboto SemiBold"/>
              <a:ea typeface="Roboto SemiBold"/>
              <a:cs typeface="Roboto SemiBold"/>
              <a:sym typeface="Roboto SemiBold"/>
            </a:endParaRPr>
          </a:p>
          <a:p>
            <a:pPr indent="-292100" lvl="1" marL="914400" rtl="0" algn="just">
              <a:spcBef>
                <a:spcPts val="0"/>
              </a:spcBef>
              <a:spcAft>
                <a:spcPts val="0"/>
              </a:spcAft>
              <a:buSzPts val="1000"/>
              <a:buFont typeface="Roboto SemiBold"/>
              <a:buAutoNum type="alphaLcPeriod"/>
            </a:pPr>
            <a:r>
              <a:rPr lang="pt-BR" sz="1000">
                <a:latin typeface="Roboto SemiBold"/>
                <a:ea typeface="Roboto SemiBold"/>
                <a:cs typeface="Roboto SemiBold"/>
                <a:sym typeface="Roboto SemiBold"/>
              </a:rPr>
              <a:t>Automatically notify users when significant changes are detected (e.g., TPV drop or variations in ticket value).</a:t>
            </a:r>
            <a:endParaRPr sz="1000">
              <a:latin typeface="Roboto SemiBold"/>
              <a:ea typeface="Roboto SemiBold"/>
              <a:cs typeface="Roboto SemiBold"/>
              <a:sym typeface="Roboto SemiBold"/>
            </a:endParaRPr>
          </a:p>
          <a:p>
            <a:pPr indent="-292100" lvl="0" marL="457200" rtl="0" algn="just">
              <a:spcBef>
                <a:spcPts val="0"/>
              </a:spcBef>
              <a:spcAft>
                <a:spcPts val="0"/>
              </a:spcAft>
              <a:buSzPts val="1000"/>
              <a:buFont typeface="Roboto SemiBold"/>
              <a:buAutoNum type="arabicPeriod"/>
            </a:pPr>
            <a:r>
              <a:rPr lang="pt-BR" sz="1000">
                <a:latin typeface="Roboto SemiBold"/>
                <a:ea typeface="Roboto SemiBold"/>
                <a:cs typeface="Roboto SemiBold"/>
                <a:sym typeface="Roboto SemiBold"/>
              </a:rPr>
              <a:t>Geração e Envio dos relatórios</a:t>
            </a:r>
            <a:endParaRPr sz="1000">
              <a:latin typeface="Roboto SemiBold"/>
              <a:ea typeface="Roboto SemiBold"/>
              <a:cs typeface="Roboto SemiBold"/>
              <a:sym typeface="Roboto SemiBold"/>
            </a:endParaRPr>
          </a:p>
          <a:p>
            <a:pPr indent="-292100" lvl="1" marL="914400" rtl="0" algn="just">
              <a:spcBef>
                <a:spcPts val="0"/>
              </a:spcBef>
              <a:spcAft>
                <a:spcPts val="0"/>
              </a:spcAft>
              <a:buSzPts val="1000"/>
              <a:buFont typeface="Roboto SemiBold"/>
              <a:buAutoNum type="alphaLcPeriod"/>
            </a:pPr>
            <a:r>
              <a:rPr lang="pt-BR" sz="1000">
                <a:latin typeface="Roboto SemiBold"/>
                <a:ea typeface="Roboto SemiBold"/>
                <a:cs typeface="Roboto SemiBold"/>
                <a:sym typeface="Roboto SemiBold"/>
              </a:rPr>
              <a:t>Automatically generate daily KPI summary reports;</a:t>
            </a:r>
            <a:endParaRPr sz="1000">
              <a:latin typeface="Roboto SemiBold"/>
              <a:ea typeface="Roboto SemiBold"/>
              <a:cs typeface="Roboto SemiBold"/>
              <a:sym typeface="Roboto SemiBold"/>
            </a:endParaRPr>
          </a:p>
          <a:p>
            <a:pPr indent="-292100" lvl="1" marL="914400" rtl="0" algn="just">
              <a:spcBef>
                <a:spcPts val="0"/>
              </a:spcBef>
              <a:spcAft>
                <a:spcPts val="0"/>
              </a:spcAft>
              <a:buSzPts val="1000"/>
              <a:buFont typeface="Roboto SemiBold"/>
              <a:buAutoNum type="alphaLcPeriod"/>
            </a:pPr>
            <a:r>
              <a:rPr lang="pt-BR" sz="1000">
                <a:latin typeface="Roboto SemiBold"/>
                <a:ea typeface="Roboto SemiBold"/>
                <a:cs typeface="Roboto SemiBold"/>
                <a:sym typeface="Roboto SemiBold"/>
              </a:rPr>
              <a:t>Define delivery platforms such as email, Microsoft Teams, or Slack;</a:t>
            </a:r>
            <a:endParaRPr sz="1000">
              <a:latin typeface="Roboto SemiBold"/>
              <a:ea typeface="Roboto SemiBold"/>
              <a:cs typeface="Roboto SemiBold"/>
              <a:sym typeface="Roboto SemiBold"/>
            </a:endParaRPr>
          </a:p>
          <a:p>
            <a:pPr indent="-292100" lvl="1" marL="914400" rtl="0" algn="just">
              <a:spcBef>
                <a:spcPts val="0"/>
              </a:spcBef>
              <a:spcAft>
                <a:spcPts val="0"/>
              </a:spcAft>
              <a:buSzPts val="1000"/>
              <a:buFont typeface="Roboto SemiBold"/>
              <a:buAutoNum type="alphaLcPeriod"/>
            </a:pPr>
            <a:r>
              <a:rPr lang="pt-BR" sz="1000">
                <a:latin typeface="Roboto SemiBold"/>
                <a:ea typeface="Roboto SemiBold"/>
                <a:cs typeface="Roboto SemiBold"/>
                <a:sym typeface="Roboto SemiBold"/>
              </a:rPr>
              <a:t>Schedule deliveries for specific times or trigger them when alert thresholds are reached.</a:t>
            </a:r>
            <a:endParaRPr sz="1000">
              <a:latin typeface="Roboto SemiBold"/>
              <a:ea typeface="Roboto SemiBold"/>
              <a:cs typeface="Roboto SemiBold"/>
              <a:sym typeface="Roboto SemiBold"/>
            </a:endParaRPr>
          </a:p>
        </p:txBody>
      </p:sp>
      <p:sp>
        <p:nvSpPr>
          <p:cNvPr id="159" name="Google Shape;159;p23"/>
          <p:cNvSpPr txBox="1"/>
          <p:nvPr>
            <p:ph idx="4294967295" type="subTitle"/>
          </p:nvPr>
        </p:nvSpPr>
        <p:spPr>
          <a:xfrm>
            <a:off x="311725" y="1235175"/>
            <a:ext cx="3704400" cy="926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t-BR">
                <a:solidFill>
                  <a:srgbClr val="FFD966"/>
                </a:solidFill>
              </a:rPr>
              <a:t>D</a:t>
            </a:r>
            <a:r>
              <a:rPr lang="pt-BR">
                <a:solidFill>
                  <a:srgbClr val="FFD966"/>
                </a:solidFill>
              </a:rPr>
              <a:t>aily updates and insights on </a:t>
            </a:r>
            <a:r>
              <a:rPr lang="pt-BR">
                <a:solidFill>
                  <a:srgbClr val="FFD966"/>
                </a:solidFill>
              </a:rPr>
              <a:t>Total Payment Volume </a:t>
            </a:r>
            <a:r>
              <a:rPr lang="pt-BR">
                <a:solidFill>
                  <a:srgbClr val="FFD966"/>
                </a:solidFill>
              </a:rPr>
              <a:t>and Average Ticket</a:t>
            </a:r>
            <a:endParaRPr>
              <a:solidFill>
                <a:srgbClr val="FFD96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